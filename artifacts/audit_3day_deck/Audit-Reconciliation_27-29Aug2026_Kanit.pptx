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50e7040d234880" /><Relationship Type="http://schemas.openxmlformats.org/officeDocument/2006/relationships/extended-properties" Target="/docProps/app.xml" Id="R755f9247546c4003" /><Relationship Type="http://schemas.openxmlformats.org/officeDocument/2006/relationships/officeDocument" Target="/ppt/presentation.xml" Id="R06a7c9ffb90e40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9f5cdfca244050"/>
  </p:sldMasterIdLst>
  <p:notesMasterIdLst>
    <p:notesMasterId xmlns:r="http://schemas.openxmlformats.org/officeDocument/2006/relationships" r:id="Rf51b882727a24ed2"/>
  </p:notesMasterIdLst>
  <p:sldIdLst>
    <p:sldId xmlns:r="http://schemas.openxmlformats.org/officeDocument/2006/relationships" id="256" r:id="R1260913917514cd2"/>
    <p:sldId xmlns:r="http://schemas.openxmlformats.org/officeDocument/2006/relationships" id="257" r:id="Recc10a0434834901"/>
    <p:sldId xmlns:r="http://schemas.openxmlformats.org/officeDocument/2006/relationships" id="258" r:id="R23dd9151c1d04dda"/>
    <p:sldId xmlns:r="http://schemas.openxmlformats.org/officeDocument/2006/relationships" id="259" r:id="Rceddf7aa5b364901"/>
    <p:sldId xmlns:r="http://schemas.openxmlformats.org/officeDocument/2006/relationships" id="260" r:id="R661575f9660c4a79"/>
    <p:sldId xmlns:r="http://schemas.openxmlformats.org/officeDocument/2006/relationships" id="261" r:id="Rc89f08ba9e054fed"/>
    <p:sldId xmlns:r="http://schemas.openxmlformats.org/officeDocument/2006/relationships" id="262" r:id="Rc67bf0cb23294850"/>
    <p:sldId xmlns:r="http://schemas.openxmlformats.org/officeDocument/2006/relationships" id="263" r:id="Rea060e81ed944d05"/>
    <p:sldId xmlns:r="http://schemas.openxmlformats.org/officeDocument/2006/relationships" id="264" r:id="R7b6b0f23a5df4296"/>
    <p:sldId xmlns:r="http://schemas.openxmlformats.org/officeDocument/2006/relationships" id="265" r:id="Rc061c113af104ad3"/>
    <p:sldId xmlns:r="http://schemas.openxmlformats.org/officeDocument/2006/relationships" id="266" r:id="R365bf3d38a5545f2"/>
    <p:sldId xmlns:r="http://schemas.openxmlformats.org/officeDocument/2006/relationships" id="267" r:id="R0f957cdab15a426f"/>
    <p:sldId xmlns:r="http://schemas.openxmlformats.org/officeDocument/2006/relationships" id="268" r:id="Rf89a5ef9611347f0"/>
    <p:sldId xmlns:r="http://schemas.openxmlformats.org/officeDocument/2006/relationships" id="269" r:id="R12dcdee66a17408f"/>
    <p:sldId xmlns:r="http://schemas.openxmlformats.org/officeDocument/2006/relationships" id="270" r:id="R2b33f2654f4c49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9f296b6fe348bd" /><Relationship Type="http://schemas.openxmlformats.org/officeDocument/2006/relationships/slideMaster" Target="/ppt/slideMasters/slideMaster1.xml" Id="R529f5cdfca244050" /><Relationship Type="http://schemas.openxmlformats.org/officeDocument/2006/relationships/notesMaster" Target="/ppt/notesMasters/notesMaster1.xml" Id="Rf51b882727a24ed2" /><Relationship Type="http://schemas.openxmlformats.org/officeDocument/2006/relationships/presProps" Target="/ppt/presProps.xml" Id="R5fc4a6bc997348e5" /><Relationship Type="http://schemas.openxmlformats.org/officeDocument/2006/relationships/tableStyles" Target="/ppt/tableStyles.xml" Id="R2c4a03758b20411b" /><Relationship Type="http://schemas.openxmlformats.org/officeDocument/2006/relationships/slide" Target="/ppt/slides/slide1.xml" Id="R1260913917514cd2" /><Relationship Type="http://schemas.openxmlformats.org/officeDocument/2006/relationships/slide" Target="/ppt/slides/slide2.xml" Id="Recc10a0434834901" /><Relationship Type="http://schemas.openxmlformats.org/officeDocument/2006/relationships/slide" Target="/ppt/slides/slide3.xml" Id="R23dd9151c1d04dda" /><Relationship Type="http://schemas.openxmlformats.org/officeDocument/2006/relationships/slide" Target="/ppt/slides/slide4.xml" Id="Rceddf7aa5b364901" /><Relationship Type="http://schemas.openxmlformats.org/officeDocument/2006/relationships/slide" Target="/ppt/slides/slide5.xml" Id="R661575f9660c4a79" /><Relationship Type="http://schemas.openxmlformats.org/officeDocument/2006/relationships/slide" Target="/ppt/slides/slide6.xml" Id="Rc89f08ba9e054fed" /><Relationship Type="http://schemas.openxmlformats.org/officeDocument/2006/relationships/slide" Target="/ppt/slides/slide7.xml" Id="Rc67bf0cb23294850" /><Relationship Type="http://schemas.openxmlformats.org/officeDocument/2006/relationships/slide" Target="/ppt/slides/slide8.xml" Id="Rea060e81ed944d05" /><Relationship Type="http://schemas.openxmlformats.org/officeDocument/2006/relationships/slide" Target="/ppt/slides/slide9.xml" Id="R7b6b0f23a5df4296" /><Relationship Type="http://schemas.openxmlformats.org/officeDocument/2006/relationships/slide" Target="/ppt/slides/slide10.xml" Id="Rc061c113af104ad3" /><Relationship Type="http://schemas.openxmlformats.org/officeDocument/2006/relationships/slide" Target="/ppt/slides/slide11.xml" Id="R365bf3d38a5545f2" /><Relationship Type="http://schemas.openxmlformats.org/officeDocument/2006/relationships/slide" Target="/ppt/slides/slide12.xml" Id="R0f957cdab15a426f" /><Relationship Type="http://schemas.openxmlformats.org/officeDocument/2006/relationships/slide" Target="/ppt/slides/slide13.xml" Id="Rf89a5ef9611347f0" /><Relationship Type="http://schemas.openxmlformats.org/officeDocument/2006/relationships/slide" Target="/ppt/slides/slide14.xml" Id="R12dcdee66a17408f" /><Relationship Type="http://schemas.openxmlformats.org/officeDocument/2006/relationships/slide" Target="/ppt/slides/slide15.xml" Id="R2b33f2654f4c49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aa36376dc84c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3545e587624df2" /><Relationship Type="http://schemas.openxmlformats.org/officeDocument/2006/relationships/notesMaster" Target="/ppt/notesMasters/notesMaster1.xml" Id="R460c97489fe74a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f4741eadc747c2" /><Relationship Type="http://schemas.openxmlformats.org/officeDocument/2006/relationships/notesMaster" Target="/ppt/notesMasters/notesMaster1.xml" Id="Rbef4b3e63a2b41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fe58b29a284bf0" /><Relationship Type="http://schemas.openxmlformats.org/officeDocument/2006/relationships/notesMaster" Target="/ppt/notesMasters/notesMaster1.xml" Id="R2d6f728d1c4541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3d3b58d4c84303" /><Relationship Type="http://schemas.openxmlformats.org/officeDocument/2006/relationships/notesMaster" Target="/ppt/notesMasters/notesMaster1.xml" Id="R1ccb5310438c42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08a3ac2c5c4570" /><Relationship Type="http://schemas.openxmlformats.org/officeDocument/2006/relationships/notesMaster" Target="/ppt/notesMasters/notesMaster1.xml" Id="Rcd2288cd180d4f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91d77786724e58" /><Relationship Type="http://schemas.openxmlformats.org/officeDocument/2006/relationships/notesMaster" Target="/ppt/notesMasters/notesMaster1.xml" Id="R559d5d719f1841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2a54e393cd4ad4" /><Relationship Type="http://schemas.openxmlformats.org/officeDocument/2006/relationships/notesMaster" Target="/ppt/notesMasters/notesMaster1.xml" Id="R000f728e726a45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8ae2c0e1994f4b" /><Relationship Type="http://schemas.openxmlformats.org/officeDocument/2006/relationships/notesMaster" Target="/ppt/notesMasters/notesMaster1.xml" Id="R4ac93183e48e4b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ef39018a76438d" /><Relationship Type="http://schemas.openxmlformats.org/officeDocument/2006/relationships/notesMaster" Target="/ppt/notesMasters/notesMaster1.xml" Id="R8f38aee60d8d49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3646ff45504f6a" /><Relationship Type="http://schemas.openxmlformats.org/officeDocument/2006/relationships/notesMaster" Target="/ppt/notesMasters/notesMaster1.xml" Id="R5a46da2533e44f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4dac4469394903" /><Relationship Type="http://schemas.openxmlformats.org/officeDocument/2006/relationships/notesMaster" Target="/ppt/notesMasters/notesMaster1.xml" Id="R3580ef848a5d4b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6e8f347d9a443e" /><Relationship Type="http://schemas.openxmlformats.org/officeDocument/2006/relationships/notesMaster" Target="/ppt/notesMasters/notesMaster1.xml" Id="Ra5b03264de654f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a68e6dbcfa46c4" /><Relationship Type="http://schemas.openxmlformats.org/officeDocument/2006/relationships/notesMaster" Target="/ppt/notesMasters/notesMaster1.xml" Id="R18d09f8bbe004f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9033eb71a64a21" /><Relationship Type="http://schemas.openxmlformats.org/officeDocument/2006/relationships/notesMaster" Target="/ppt/notesMasters/notesMaster1.xml" Id="Rca46205e1dc846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d580fd47434fd7" /><Relationship Type="http://schemas.openxmlformats.org/officeDocument/2006/relationships/notesMaster" Target="/ppt/notesMasters/notesMaster1.xml" Id="R5612716eadd345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source_files, mail_batches;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7a477214c49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6d4b9183394ffd" /><Relationship Type="http://schemas.openxmlformats.org/officeDocument/2006/relationships/slideLayout" Target="/ppt/slideLayouts/slideLayout1.xml" Id="Rd5da114dd76847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da114dd76847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33c1dacad4c76" /><Relationship Type="http://schemas.openxmlformats.org/officeDocument/2006/relationships/notesSlide" Target="/ppt/notesSlides/notesSlide1.xml" Id="R5d865d90659c41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7c4c6401345f9" /><Relationship Type="http://schemas.openxmlformats.org/officeDocument/2006/relationships/notesSlide" Target="/ppt/notesSlides/notesSlide2.xml" Id="R43b902ee1059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f3078b92a48c8" /><Relationship Type="http://schemas.openxmlformats.org/officeDocument/2006/relationships/notesSlide" Target="/ppt/notesSlides/notesSlide3.xml" Id="R1fa4ab2619d74a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f19da66374fbe" /><Relationship Type="http://schemas.openxmlformats.org/officeDocument/2006/relationships/notesSlide" Target="/ppt/notesSlides/notesSlide4.xml" Id="Rdbd7f4701f8245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d6edc80c74cf6" /><Relationship Type="http://schemas.openxmlformats.org/officeDocument/2006/relationships/notesSlide" Target="/ppt/notesSlides/notesSlide5.xml" Id="R25015893739c4a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b4d3aa4a4478f" /><Relationship Type="http://schemas.openxmlformats.org/officeDocument/2006/relationships/notesSlide" Target="/ppt/notesSlides/notesSlide6.xml" Id="R657f59c89ee84e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ab1cfda264d2a" /><Relationship Type="http://schemas.openxmlformats.org/officeDocument/2006/relationships/notesSlide" Target="/ppt/notesSlides/notesSlide7.xml" Id="Rf017ef598f334a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eff89a3c948b4" /><Relationship Type="http://schemas.openxmlformats.org/officeDocument/2006/relationships/notesSlide" Target="/ppt/notesSlides/notesSlide8.xml" Id="R3b1d6748952349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d813d110e4eab" /><Relationship Type="http://schemas.openxmlformats.org/officeDocument/2006/relationships/notesSlide" Target="/ppt/notesSlides/notesSlide9.xml" Id="R615d754b3f2448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97cb5b4004726" /><Relationship Type="http://schemas.openxmlformats.org/officeDocument/2006/relationships/notesSlide" Target="/ppt/notesSlides/notesSlide10.xml" Id="R1be604eb9cf543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6ee7ba8f64ccd" /><Relationship Type="http://schemas.openxmlformats.org/officeDocument/2006/relationships/notesSlide" Target="/ppt/notesSlides/notesSlide11.xml" Id="Rd48fed00557841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45c3203474716" /><Relationship Type="http://schemas.openxmlformats.org/officeDocument/2006/relationships/notesSlide" Target="/ppt/notesSlides/notesSlide12.xml" Id="Re16b341508cf4d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0ffe4f3254537" /><Relationship Type="http://schemas.openxmlformats.org/officeDocument/2006/relationships/notesSlide" Target="/ppt/notesSlides/notesSlide13.xml" Id="R1c9b985e1f6740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1d4ea1c474567" /><Relationship Type="http://schemas.openxmlformats.org/officeDocument/2006/relationships/notesSlide" Target="/ppt/notesSlides/notesSlide14.xml" Id="R330cd951ef7548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e2a545d454f39" /><Relationship Type="http://schemas.openxmlformats.org/officeDocument/2006/relationships/notesSlide" Target="/ppt/notesSlides/notesSlide15.xml" Id="R7c52ccebb0c142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F625B-70CB-4EE4-879E-346B0014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D0"/>
          </a:solidFill>
          <a:ln xmlns:a="http://schemas.openxmlformats.org/drawingml/2006/main" w="0">
            <a:solidFill>
              <a:srgbClr val="0867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EDAA1-CAA4-452F-9CB2-4CFAEFBA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2BFFF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82BFFF"/>
                </a:solidFill>
                <a:latin typeface="Kanit"/>
                <a:ea typeface="Kanit"/>
                <a:cs typeface="Kanit"/>
              </a:rPr>
              <a:t>AUDIT RECONCILIATION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94BBB-BCAE-4BDC-BABE-57FD9EBB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3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สรุปการกระทบยอด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3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27–29 สิงหาคม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5EE89-7D02-44A9-9878-DB28AD6E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7667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BEE"/>
                </a:solidFill>
                <a:latin typeface="Kanit"/>
                <a:ea typeface="Kanit"/>
                <a:cs typeface="Kanit"/>
              </a:defRPr>
            </a:pPr>
            <a:r>
              <a:rPr sz="1650" b="0">
                <a:solidFill>
                  <a:srgbClr val="C7DBEE"/>
                </a:solidFill>
                <a:latin typeface="Kanit"/>
                <a:ea typeface="Kanit"/>
                <a:cs typeface="Kanit"/>
              </a:rPr>
              <a:t>ภาพรวม • เช็กลิสต์ 9 บริษัท • ประเด็นถามทีม • วิธีดำเนินงาน 1 หน้า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30EF3-AFF8-4468-9A8A-F9637262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5727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23A60"/>
          </a:solidFill>
          <a:ln xmlns:a="http://schemas.openxmlformats.org/drawingml/2006/main" w="9525">
            <a:solidFill>
              <a:srgbClr val="2757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D94F1-948A-4135-81A1-52BA9805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2BFFF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82BFFF"/>
                </a:solidFill>
                <a:latin typeface="Kanit"/>
                <a:ea typeface="Kanit"/>
                <a:cs typeface="Kanit"/>
              </a:rPr>
              <a:t>ข้อสรุปสำคัญ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1FB79-B519-4446-92ED-80768026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16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ทุกบริษัทอ่านไฟล์และรันครบทั้ง 3 วัน แต่คุณภาพการจับคู่ยังต่างกันมาก—ต้องแยก “ครบไฟล์” ออกจาก “จับคู่ครบ”</a:t>
            </a:r>
          </a:p>
        </p:txBody>
      </p:sp>
    </p:spTree>
    <p:extLst>
      <p:ext uri="{BB962C8B-B14F-4D97-AF65-F5344CB8AC3E}">
        <p14:creationId xmlns:p14="http://schemas.microsoft.com/office/powerpoint/2010/main" val="1587493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78B8C3-5AD4-4F91-9A88-32B48F03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EXECUTIVE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5B791-B4D0-435F-92F1-C6A6DA76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ภาพรวม 3 วัน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BDD1A-0E0A-482B-B4E8-605240A4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อ่านไฟล์ครบ 305 ไฟล์หลัก และสร้างผลกระทบยอดครบทั้ง 9 บริษัท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E9BD1-79C5-4958-ADE2-79F1B65E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02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89BCC-AB4E-46BB-8212-64BE1E57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1DDFD-0FC0-4BFC-9AD8-BB310E82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A52"/>
          </a:solidFill>
          <a:ln xmlns:a="http://schemas.openxmlformats.org/drawingml/2006/main" w="0">
            <a:solidFill>
              <a:srgbClr val="118A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B3153-9C74-40C2-93C6-0369681B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05025"/>
            <a:ext cx="1704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ไฟล์หลักที่อ่านสำเร็จ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07DD9-FF52-426F-B9E1-A57868E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305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F81D0-6CA3-44E4-9949-867F3A4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ไม่รวมไฟล์ชี้แจง/หลักฐาน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D1FA0-8073-4D7A-9577-33251D8C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ABB9F-CF5E-46DF-A6A7-8DBF16B3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D0"/>
          </a:solidFill>
          <a:ln xmlns:a="http://schemas.openxmlformats.org/drawingml/2006/main" w="0">
            <a:solidFill>
              <a:srgbClr val="086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A5B9E-F57A-4A82-9B59-C554BB40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05025"/>
            <a:ext cx="1704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รายการ STM / PM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1D39F-2C98-4311-BC85-849E22A7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6220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47,741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A6DE9-1019-4B76-A552-52FFD17B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90825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ข้อมูลฝาก–ถอนฝั่งธนาคาร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93682-BA9E-44EE-8539-A3667A3F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9A2CE-DBE1-4A65-B23F-A05231EE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D0"/>
          </a:solidFill>
          <a:ln xmlns:a="http://schemas.openxmlformats.org/drawingml/2006/main" w="0">
            <a:solidFill>
              <a:srgbClr val="086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A03D2-9497-4F23-867E-AA6FF285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05025"/>
            <a:ext cx="1704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รายการ BO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598E9-43DC-4E5B-BB55-BFEBF102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51,601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DE8D4-F716-47A6-8D64-71E8DB42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90825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ข้อมูลจากระบบหลังบ้าน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55347-562F-48C3-8874-49C08B8E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52625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3777B1-87C5-4BA9-9EFF-D6214464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526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A52"/>
          </a:solidFill>
          <a:ln xmlns:a="http://schemas.openxmlformats.org/drawingml/2006/main" w="0">
            <a:solidFill>
              <a:srgbClr val="118A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90833-7184-4314-BB59-3D9E02DA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05025"/>
            <a:ext cx="1704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จับคู่สำเร็จ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D57DD-C887-43E1-88DB-8FFAC3CA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6220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21,810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20604-872B-417A-AB6E-9880A30D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90825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45.68% ของ STM / PM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6AF50A-16DF-4832-AE16-670C9A90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C6829A-C016-4368-9CA4-EA2C0172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A52"/>
          </a:solidFill>
          <a:ln xmlns:a="http://schemas.openxmlformats.org/drawingml/2006/main" w="0">
            <a:solidFill>
              <a:srgbClr val="118A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82E60-D6F4-414C-A1E5-86BFEE1B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05025"/>
            <a:ext cx="1704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บริษัท / วัน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98623B-5D2A-4B51-B156-C54C1481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6220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9 ×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77C84E-7AC0-4F7F-8A37-4F010167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90825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ทุก job สถานะ completed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E11C4B-E762-4DBD-8F8B-6C978955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แนวโน้มรายวัน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1F42C3-E2EA-4CBA-A722-176C2FE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103822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DF3DE7-663D-4462-8B82-B4B39EE8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วัน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66DDE1-576D-44A8-A854-7F4220E4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766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ไฟล์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C2249A-26AC-4EB3-8AEE-961B1520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766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649724-5529-46D4-86C3-FFCA67CD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766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596C3C-B858-4C7E-8321-8393D90F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766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จับคู่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F9D725-34CF-4936-90D0-29511186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7667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อัตราจับคู่</a:t>
            </a:r>
          </a:p>
        </p:txBody>
      </p:sp>
      <p:cxnSp>
        <p:nvCxnSpPr>
          <p:cNvPr id="102" name=""/>
          <p:cNvCxnSpPr/>
          <p:nvPr/>
        </p:nvCxnSpPr>
        <p:spPr>
          <a:xfrm xmlns:a="http://schemas.openxmlformats.org/drawingml/2006/main">
            <a:off x="533400" y="42481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0872E2-4DB3-4342-99A7-2BF615B4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2ED92C-2123-42EB-B8F4-2E9B17B8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338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15DC4A-EA5F-48C1-8D14-5F3B89A7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338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14,967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37578F-AFF5-46CC-AEBA-DCF5FE32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338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15,933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B860D5-8863-4095-9F05-40413AC4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338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6,263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E27BE0-389E-4DEE-86D1-84A1A0B7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3387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41.85%</a:t>
            </a:r>
          </a:p>
        </p:txBody>
      </p:sp>
      <p:cxnSp>
        <p:nvCxnSpPr>
          <p:cNvPr id="109" name=""/>
          <p:cNvCxnSpPr/>
          <p:nvPr/>
        </p:nvCxnSpPr>
        <p:spPr>
          <a:xfrm xmlns:a="http://schemas.openxmlformats.org/drawingml/2006/main">
            <a:off x="533400" y="47053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40FD14-B9D7-4929-8785-F20E49B1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70535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66AA2B-1D76-40DC-96F4-9E74A7A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5A015C-B8C9-4E33-86FF-6B13F2E6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910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F83EB3-C0D7-411D-BD45-55747A8D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910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16,389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790129-0AC3-4C2E-9ADF-0A6ED1B2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7910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17,345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8AB9FC-F047-4D46-AE51-E070730C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910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8,009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39E00D-B88D-4A82-87A3-681928EA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9107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48.87%</a:t>
            </a:r>
          </a:p>
        </p:txBody>
      </p:sp>
      <p:cxnSp>
        <p:nvCxnSpPr>
          <p:cNvPr id="117" name=""/>
          <p:cNvCxnSpPr/>
          <p:nvPr/>
        </p:nvCxnSpPr>
        <p:spPr>
          <a:xfrm xmlns:a="http://schemas.openxmlformats.org/drawingml/2006/main">
            <a:off x="533400" y="51625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5532B9-0CD0-4234-9F50-00DC86C8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52B2E8-AFF3-4CB5-B523-03E8109E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482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92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B469E5-5F2C-4986-8F28-7DFECF45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482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16,385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F6B534-4D33-445A-9930-0D4E9B8E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482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18,323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B40AD9-6E26-463F-9C29-50C77101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482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7,538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0817C4-1746-41EB-94D1-DD3E96C8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4827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46.01%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94419C-3A4C-48F6-96DC-2CD48CB7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607B67-E51D-4E1C-97F9-43AAB4DC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816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หมายเหตุ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561B06-AE42-4B1E-937D-093BFBC9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912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29 ส.ค. มีไฟล์ชี้แจงเพิ่ม 17 ไฟล์ ซึ่งเก็บเป็นหลักฐานและไม่ถูกนับใน 92 ไฟล์ธุรกรรม</a:t>
            </a:r>
          </a:p>
        </p:txBody>
      </p:sp>
    </p:spTree>
    <p:extLst>
      <p:ext uri="{BB962C8B-B14F-4D97-AF65-F5344CB8AC3E}">
        <p14:creationId xmlns:p14="http://schemas.microsoft.com/office/powerpoint/2010/main" val="2047126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6C10F-2E0E-4508-A575-A3BD736F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CONTROL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7A87E-CA5C-4D82-9ECE-C1D25DD9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อ่านสถานะให้ถูกก่อนถามทีม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ADDA7-83F1-4FA8-AF81-9F912AAC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คำว่า completed ยืนยันว่าอ่านไฟล์และรันจบ ไม่ได้ยืนยันว่าทุกรายการจับคู่สำเร็จ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EC8E2-221C-4691-8771-D873BF59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03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3773D-8F98-42DA-B0F6-CD514C58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7B786-4247-4DCC-BCDA-C19BE18A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CC914-1D78-4A12-9D23-236C07DE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8A52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8A52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148C4-D826-4D19-8076-692DB349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28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8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ครบไฟล์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86093-A35C-4576-B02C-DBDD6D09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3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ไฟล์หลักถูกบันทึกและอ่านสำเร็จ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F44DB-A7E9-4995-8083-93DFFACA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643F5-9539-4CED-A0BA-1E1D2057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467EC-C79A-4761-8719-7FCCF341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5A142-9F63-4C32-8139-D7FA4432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28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8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รันครบ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18832-5DC2-4A90-8563-088E56FE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3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สร้างผล STM, BO, match และ exception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3F549-3BA1-4413-8C7E-269FFD5E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3835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F3DF9-F71E-4EFC-AB22-D592F368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ACBAC-8BCE-488B-BFA0-341858DD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A3079-DCAC-415F-921E-E4C573B0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8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จับคู่ครบ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9255E-2A2D-4AA1-BEDD-26006123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3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ต้องดู match rate + exception แยกอีกชั้น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41A11-2726-4445-A5BF-A02F9194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10839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DD39D-C7E3-480B-BC90-841BBE05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สิ่งที่ต้องถามทีม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D3C95D-13F6-48C0-A5B2-30618F8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• จำนวนไฟล์น้อยลงเป็นปกติหรือมีส่งตกหล่น</a:t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• ชื่อ Provider / บัญชี / ทิศทางฝาก–ถอนตรงกันหรือไม่</a:t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• ไฟล์ชี้แจงต้องผูกกับเคสใด ก่อนอนุมัติและปิดเคส</a:t>
            </a:r>
          </a:p>
        </p:txBody>
      </p:sp>
    </p:spTree>
    <p:extLst>
      <p:ext uri="{BB962C8B-B14F-4D97-AF65-F5344CB8AC3E}">
        <p14:creationId xmlns:p14="http://schemas.microsoft.com/office/powerpoint/2010/main" val="250962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FC0BB4-076D-40AE-99D5-EF5E7055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COMPANY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EB922-4E9D-4F06-B53A-6B8F72AC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เช็กลิสต์ภาพรวม 9 บริษัท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49557-5717-4A75-B0C4-74C422DA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ใช้หน้านี้เป็นรายการโทร/ถามทีมก่อน แล้วเปิดหน้ารายบริษัทเพื่อดูรายละเอียด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17E0-4337-4EE2-8798-DEC897F1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04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05AD1-630C-4DEA-AD77-CB425BAB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08394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3EE43-2387-4FDD-A9F1-DFF144F5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บริษัท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C10F3-190F-4868-915F-3CF106C6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383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ไฟล์ 27→28→29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9954A-ACBF-48B5-8E36-B47B9D7D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เฉลี่ยจับคู่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8D980-3ABA-4EE5-B3B5-F3057B96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ระดับ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D0999-F105-426F-9B99-4C191008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38350"/>
            <a:ext cx="544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คำถามแรกที่ต้องถาม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23717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8BE39-11EB-47D6-9337-F2E7827A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3XB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B558B-9EB2-4F57-A64C-3401AC86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574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15 → 13 →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05CF8-6D1A-4D27-B07F-1AC1BD3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50.6%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A5C15-513D-49B4-A16E-00AFA290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574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AF402-29D6-40D9-8F19-596B6DDD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57450"/>
            <a:ext cx="544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ยืนยันว่า 29 ส.ค. ส่งไฟล์ PM/Provider ครบ แม้จำนวนลดเหลือ 9 ไฟล์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533400" y="27908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57B19-10AB-4CE6-AB52-C61120CA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B3F76-A748-40B1-8CB1-272C76CF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AT4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03AD9-4536-46CB-BE39-91FD6E7E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15 → 13 → 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D7523-DAE6-4E67-A503-E0BC3840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765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36.3%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29065-C2FF-4A7E-A94A-E3850D9E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7E424-18DE-423C-BCF3-BFC4A86E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76550"/>
            <a:ext cx="544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ยืนยันชุดไฟล์ฝาก/ถอนของทุก Provider วันที่ 29</a:t>
            </a:r>
          </a:p>
        </p:txBody>
      </p:sp>
      <p:cxnSp>
        <p:nvCxnSpPr>
          <p:cNvPr id="94" name=""/>
          <p:cNvCxnSpPr/>
          <p:nvPr/>
        </p:nvCxnSpPr>
        <p:spPr>
          <a:xfrm xmlns:a="http://schemas.openxmlformats.org/drawingml/2006/main">
            <a:off x="533400" y="32099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650DFD-D50D-4C8E-96BC-5CED6C19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FR8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1F296-5C20-4286-8108-DF96EA88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956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14 → 16 → 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6ABB3-1472-41AE-9421-088B71A3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956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25.5%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E1FA09-9FFB-4B93-B79A-821B42D7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956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เร่งตรวจ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F66B63-BF8B-4E67-AEB5-05AB9E01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544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ไฟล์ปริมาณใกล้เคียงเดิม แต่จับคู่ต่ำต่อเนื่อง—ตรวจ mapping บัญชี/Provider</a:t>
            </a:r>
          </a:p>
        </p:txBody>
      </p:sp>
      <p:cxnSp>
        <p:nvCxnSpPr>
          <p:cNvPr id="100" name=""/>
          <p:cNvCxnSpPr/>
          <p:nvPr/>
        </p:nvCxnSpPr>
        <p:spPr>
          <a:xfrm xmlns:a="http://schemas.openxmlformats.org/drawingml/2006/main">
            <a:off x="533400" y="36290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054DA1-3B2D-4E2A-83A8-E7F40F92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29025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30D8E4-A77F-4449-BED7-3B9FAE2B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MC8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70D4A4-025F-4C1A-98B9-D201432A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147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8 → 10 → 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7A73EB-6805-4AF8-9019-0D00001F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49.6%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546AD8-250A-4C69-A903-251A3A07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C0229F-5D2B-448F-8E8C-53780523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14750"/>
            <a:ext cx="544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อัตราจับคู่ลดชัดในวันที่ 29 แม้จำนวนไฟล์ปกติ</a:t>
            </a:r>
          </a:p>
        </p:txBody>
      </p:sp>
      <p:cxnSp>
        <p:nvCxnSpPr>
          <p:cNvPr id="107" name=""/>
          <p:cNvCxnSpPr/>
          <p:nvPr/>
        </p:nvCxnSpPr>
        <p:spPr>
          <a:xfrm xmlns:a="http://schemas.openxmlformats.org/drawingml/2006/main">
            <a:off x="533400" y="40481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A3DEF3-CBE7-4405-94F5-B788343A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MR9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FC3240-4799-4212-89F8-6AF3474D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338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 → 10 → 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84749C-00AA-446B-8BB1-7703C1AD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338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51.4%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4055E2-08EE-4C4F-88AA-65C67AA8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338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AC34C1-0338-474E-805B-F1F674B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33850"/>
            <a:ext cx="544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จำนวนไฟล์หลักคงที่ แต่มีหลักฐานเพิ่ม 6 ไฟล์</a:t>
            </a:r>
          </a:p>
        </p:txBody>
      </p:sp>
      <p:cxnSp>
        <p:nvCxnSpPr>
          <p:cNvPr id="113" name=""/>
          <p:cNvCxnSpPr/>
          <p:nvPr/>
        </p:nvCxnSpPr>
        <p:spPr>
          <a:xfrm xmlns:a="http://schemas.openxmlformats.org/drawingml/2006/main">
            <a:off x="533400" y="44672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945ECE-7060-469B-8246-36F670C2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67225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7897F9-1F19-4CE8-ABD7-E7B39DCD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PS8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9F7076-5226-46A8-80CB-5A6944EA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529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 → 11 → 11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73D4D4-5C91-4199-A724-DA27A3BA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529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65.9%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D195D3-8132-4FE2-9226-418BC5BD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529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ปกติ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AB804E-C004-4A53-9F97-886117D5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52950"/>
            <a:ext cx="544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จำนวนไฟล์คงที่ 11 ไฟล์ทุกวัน</a:t>
            </a:r>
          </a:p>
        </p:txBody>
      </p:sp>
      <p:cxnSp>
        <p:nvCxnSpPr>
          <p:cNvPr id="120" name=""/>
          <p:cNvCxnSpPr/>
          <p:nvPr/>
        </p:nvCxnSpPr>
        <p:spPr>
          <a:xfrm xmlns:a="http://schemas.openxmlformats.org/drawingml/2006/main">
            <a:off x="533400" y="48863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363830-D3F9-4248-BC51-F6917809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SK8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FE4BF5-CA58-49B8-936A-D1774225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720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18 → 12 → 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646464-665E-49BD-B665-721C92D9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9.7%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69293E-1598-4E5E-90C2-B310B4E3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720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เร่งตรวจ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336CF3-4B84-450E-9085-0F9066F8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544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อัตราจับคู่ต่ำมากทั้ง 3 วัน—ตรวจ rule/mapping ก่อนสรุปผล</a:t>
            </a:r>
          </a:p>
        </p:txBody>
      </p:sp>
      <p:cxnSp>
        <p:nvCxnSpPr>
          <p:cNvPr id="126" name=""/>
          <p:cNvCxnSpPr/>
          <p:nvPr/>
        </p:nvCxnSpPr>
        <p:spPr>
          <a:xfrm xmlns:a="http://schemas.openxmlformats.org/drawingml/2006/main">
            <a:off x="533400" y="53054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88A892-CE4A-4EDE-B2CE-A92E536B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305425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991716-6BF8-434F-875B-A0482495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UFABET7M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2568A0-DEF3-4E74-A83D-031109F2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911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7 → 7 → 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3BF50B-5D14-4A40-99E6-971337DB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911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76.9%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E72495B-B90A-48AB-ACB2-71972C11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911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F67CBC-7516-4279-A19B-EB2BD8C0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91150"/>
            <a:ext cx="544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จำนวนไฟล์คงที่ แต่ match rate ลดลงต่อเนื่อง</a:t>
            </a:r>
          </a:p>
        </p:txBody>
      </p:sp>
      <p:cxnSp>
        <p:nvCxnSpPr>
          <p:cNvPr id="133" name=""/>
          <p:cNvCxnSpPr/>
          <p:nvPr/>
        </p:nvCxnSpPr>
        <p:spPr>
          <a:xfrm xmlns:a="http://schemas.openxmlformats.org/drawingml/2006/main">
            <a:off x="533400" y="57245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0C6825-5C44-486D-8CA7-7919EAE9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UR9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19BD527-B314-4602-8C85-0680D783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102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 → 11 → 11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F6339D-F086-4DE9-ABC9-50CCE6B2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8102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46.5%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77FC246-926E-4992-81E0-84A54792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102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ปกติ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906CAB-7106-48D0-A2BC-23AFCD9A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810250"/>
            <a:ext cx="544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จำนวนไฟล์คงที่และแนวโน้มดีขึ้น</a:t>
            </a:r>
          </a:p>
        </p:txBody>
      </p:sp>
    </p:spTree>
    <p:extLst>
      <p:ext uri="{BB962C8B-B14F-4D97-AF65-F5344CB8AC3E}">
        <p14:creationId xmlns:p14="http://schemas.microsoft.com/office/powerpoint/2010/main" val="1873908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AB1940-1405-444B-A9C4-AE98B08B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COMPANY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45BB1-064E-4DB4-AE27-E0A23C1C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3XB — ผล 3 วันและรายการถามทีม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AE3DF-C78C-4782-BF5D-92FB52D4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ไฟล์หลักครบทุก job • ค่าเฉลี่ยจับคู่ 50.56% • วันที่ 29 มีหลักฐาน 0 ไฟล์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61630-061C-4BF1-BF1F-64AA4CF2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05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1A652-7CC3-41B0-8782-18F0D798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A9D8E-7E49-4BD8-A8F4-C47DD0BC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4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B2328-3784-44A1-B74B-F5ABDE23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715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159A6-A9BF-4B18-A6E4-B7BA2190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วันที่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338F0-7FCC-483E-9D6A-930D4C76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FE60B-C301-46AD-A745-31FCC589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6CDBD-2610-4728-82FD-F8A713EE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9E281-0F75-4434-BCFE-2F3022DC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จับคู่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FA134-B850-44D7-BE12-3AB4E7FF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อัตรา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33400" y="23717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92FD7-1D73-4C82-B22D-02F9FDB9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02ECC-91E5-44A0-B3AD-6B4CE1CE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57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2E5FC-73AF-4D2C-90DD-767C03E5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5,110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E6E7E-D30C-4416-82FD-57A3946C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5,841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1F8DB-49F2-45C7-B854-BEAFBF55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1,938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8EF5E-6DC4-42CE-B301-77B6B20B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37.93%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27908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8CF64-DA10-4762-8FFE-C243F33F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769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B4DB4D-C4FF-48D9-A343-ED14973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C6961-96E9-4F87-A1BD-2F7A46D4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765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956978-DBB0-4CD4-9174-D859D473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5,716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10C3B-DEA6-45F0-9FAB-EFAF7AA5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6,515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56D0F-091C-4164-9EAC-4CF18B7D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3,052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963EB2-25CD-4952-9375-1115256D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53.39%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533400" y="32099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424CF2-5C90-4BD8-88D3-08634F04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3A3C04-233B-404F-A0E7-E56EED55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9BCC29-1CE5-47C7-9102-49BEE028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5,320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55C341-C29F-47A3-8A05-88E42516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6,817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AB4842-5820-41FB-95C4-03B176E5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3,211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49A2B2-B8BC-4AEB-A263-723671D6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60.36%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B61672-2D4A-48A1-83CB-52125B39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2289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E59B67-75A2-47DC-8137-40C17C49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แนวโน้ม Match rate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8334375" y="32766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1C14EF-02E9-47A5-BD79-DE57705F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59830"/>
            <a:ext cx="400050" cy="216770"/>
          </a:xfrm>
          <a:prstGeom xmlns:a="http://schemas.openxmlformats.org/drawingml/2006/main" prst="roundRect">
            <a:avLst>
              <a:gd name="adj" fmla="val 26364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E9C5FB-8C74-4443-AE08-95F60372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3123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37.9%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17C68B-2678-4518-9F08-2B7DBFD3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36BB3B-9ED9-4760-B281-8599215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476"/>
            <a:ext cx="400050" cy="305124"/>
          </a:xfrm>
          <a:prstGeom xmlns:a="http://schemas.openxmlformats.org/drawingml/2006/main" prst="roundRect">
            <a:avLst>
              <a:gd name="adj" fmla="val 18730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1F4F90-E846-4E87-B926-5C9EF4F1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42876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53.4%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D118C3-99BD-4C29-97CB-63B9973C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EC107E-05C9-42F0-BAA8-26AFC3D4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31643"/>
            <a:ext cx="400050" cy="344957"/>
          </a:xfrm>
          <a:prstGeom xmlns:a="http://schemas.openxmlformats.org/drawingml/2006/main" prst="roundRect">
            <a:avLst>
              <a:gd name="adj" fmla="val 16567"/>
            </a:avLst>
          </a:prstGeom>
          <a:solidFill xmlns:a="http://schemas.openxmlformats.org/drawingml/2006/main">
            <a:srgbClr val="118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B6E401-D6DB-46FB-9A54-9E0774AC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03043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60.4%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E2789B-13AF-4350-BC4E-CDC657B0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2A5589-EF6A-4F48-9A3B-6AD22DC3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08394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B2F6EF-9E61-4851-983B-E76F6113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เช็กลิสต์ถามทีม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744F9A-FF37-468A-8F5D-E4F702FD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8FB585-79A6-49DE-8143-0BD9F5F8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CF9877-5DCA-4CCF-9E91-E33B104D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ยืนยันว่า 29 ส.ค. ส่งไฟล์ PM/Provider ครบ แม้จำนวนลดเหลือ 9 ไฟล์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7BD36A-8A42-42DF-8635-72EBF2EB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19B06F-CA35-41F4-91ED-E6095354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E42F43-108F-43E9-8CF9-7F470225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ตรวจว่ามีไฟล์ BO/PM ส่งตามหลังรอบประมวลผลหรือไม่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764A3B-3884-44E0-8635-2E5A6BA0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E6F687-034B-4D04-9316-4562B755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86CCC7-B129-409A-8394-D68DE2B8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ถ้าครบ ให้ใช้ผลวันที่ 29 ต่อได้</a:t>
            </a:r>
          </a:p>
        </p:txBody>
      </p:sp>
    </p:spTree>
    <p:extLst>
      <p:ext uri="{BB962C8B-B14F-4D97-AF65-F5344CB8AC3E}">
        <p14:creationId xmlns:p14="http://schemas.microsoft.com/office/powerpoint/2010/main" val="1059497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CC77DE-9F2C-48B3-8741-6EAD404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COMPANY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610D5-1F55-463E-A8D6-577E3AC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AT4 — ผล 3 วันและรายการถามทีม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52B4B-FA85-4272-8DA0-809855B6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ไฟล์หลักครบทุก job • ค่าเฉลี่ยจับคู่ 36.29% • วันที่ 29 มีหลักฐาน 0 ไฟล์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991C1-DEE9-4480-B0AB-7759ACD1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06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0534D-648D-4B31-9CE3-CA2B9BB9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BB55A-DAEC-42C2-B3FE-3D0268F4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4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FD066-3080-40EA-A34B-B7B1DE58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715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026F7-342E-4BC8-821C-8518956B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วันที่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A9F6E-D55E-4435-BC0D-C450511C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761C6-3050-4476-B76A-761FCBC7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43F82-EF75-43C5-99B7-70EE3BF7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C96D1-9E4E-4B9A-AE1A-C4BA208B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จับคู่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06A31-BB50-40B8-976B-4F687548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อัตรา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33400" y="23717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18E1A-C7FF-4D54-B2F5-5E49D569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69747-6103-4106-8B07-74BD0AD2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57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088B1-D5E2-4D8B-A6CE-44F291B5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471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28CC4-B65E-4D5D-9D93-8D43372C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88EC6-BBA1-4C73-A983-DE9C2A5E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178D3-7CF0-4397-98E0-3D0F72D3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23.99%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27908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5F01C8-14A9-4928-A17D-A155D21D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769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146C6-A0E4-44A0-B9B0-8436D358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8E0D2-E4B4-4DE5-A48D-C23733A3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765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B23C2A-BB65-41A2-A781-F4E468F4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457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76197-CF34-4F3C-836E-6AB54B86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461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D1C0F2-974A-48E3-9C5C-D1206A9A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194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F5A471-FAFF-4B6E-88EE-B21C8373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42.45%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533400" y="32099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9A16A-5F3D-46B7-A4DE-6DD9D6AA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FD9640-61D5-4968-BC7D-36F8EEA4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6C8EF7-2069-42AA-86F2-D31042BF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EA774A-ED69-40FD-B305-EFEB6927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429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01C9C8-D896-420D-B8ED-26AEAFE2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174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034404-9612-4940-86F6-13B9CE67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42.44%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D34303-F71F-45E9-A373-361AE7C1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2289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E59136-B557-40D4-B111-5A0CCF6D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แนวโน้ม Match rate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8334375" y="32766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46B6C2-02C4-4815-8C81-31633B91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39497"/>
            <a:ext cx="400050" cy="137103"/>
          </a:xfrm>
          <a:prstGeom xmlns:a="http://schemas.openxmlformats.org/drawingml/2006/main" prst="roundRect">
            <a:avLst>
              <a:gd name="adj" fmla="val 41684"/>
            </a:avLst>
          </a:prstGeom>
          <a:solidFill xmlns:a="http://schemas.openxmlformats.org/drawingml/2006/main">
            <a:srgbClr val="C5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A87CDA-C188-402A-B9C3-6BA77E7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0897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24.0%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4B014B-D5D2-49A8-8BC5-B7EEC48B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C3DA19-D2EE-4E80-A7DC-DD137D94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33998"/>
            <a:ext cx="400050" cy="242602"/>
          </a:xfrm>
          <a:prstGeom xmlns:a="http://schemas.openxmlformats.org/drawingml/2006/main" prst="roundRect">
            <a:avLst>
              <a:gd name="adj" fmla="val 23557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65FFD0-E936-4A54-A57F-E6C30C05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5398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42.5%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C5F32F-A542-4FB2-B8B1-E77493F1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C2D0AD-C003-431C-AAC0-0C9E31F8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34055"/>
            <a:ext cx="400050" cy="242545"/>
          </a:xfrm>
          <a:prstGeom xmlns:a="http://schemas.openxmlformats.org/drawingml/2006/main" prst="roundRect">
            <a:avLst>
              <a:gd name="adj" fmla="val 23563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6A22BB-0859-4A1C-8735-C61478F7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0545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42.4%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669FA8-FF60-4C6C-80EA-0CEC1A88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434772-F971-4ED4-83DD-013A6ECA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08394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911669-961A-41CB-AAD6-88C812DC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เช็กลิสต์ถามทีม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33DDF9-1EC7-44BC-A204-04ABA39F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187888-C144-4F0A-9963-9CC131EF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D28165-397F-46F4-8336-91823E82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ยืนยันชุดไฟล์ฝาก/ถอนของทุก Provider วันที่ 29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835988-C434-4931-A68F-D4622274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287590-43FA-4EC5-A639-1A7B97A8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689A9F-992E-47AC-B962-6A23A947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ตรวจบัญชีและทิศทาง D/W ในชื่อไฟล์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432639-AB59-493D-BC8A-C7AA465F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B1EBE2-FDAD-46B6-BA1D-F0CFC921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FEFFE4-CD3B-49A3-BDF3-BB45C381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สอบถามว่าจำนวนไฟล์ลด 15 → 10 เป็นปกติหรือไม่</a:t>
            </a:r>
          </a:p>
        </p:txBody>
      </p:sp>
    </p:spTree>
    <p:extLst>
      <p:ext uri="{BB962C8B-B14F-4D97-AF65-F5344CB8AC3E}">
        <p14:creationId xmlns:p14="http://schemas.microsoft.com/office/powerpoint/2010/main" val="2032261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3C9A5E-A8C0-403D-8295-30791448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COMPANY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EA4E3-098C-40DC-BB23-D0D111BB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FR8 — ผล 3 วันและรายการถามทีม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F9C61-2040-4C12-9CD4-D6BFD13E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ไฟล์หลักครบทุก job • ค่าเฉลี่ยจับคู่ 25.50% • วันที่ 29 มีหลักฐาน 5 ไฟล์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64BC3-7C0F-4EE8-9E81-BDD56883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07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FC6B0-58C0-42C1-A094-AF8AEBB5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97192-56AF-4786-BB45-2B315544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4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53A3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C53A3A"/>
                </a:solidFill>
                <a:latin typeface="Kanit"/>
                <a:ea typeface="Kanit"/>
                <a:cs typeface="Kanit"/>
              </a:rPr>
              <a:t>เร่งตรวจ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17FB2-24BE-46F6-A38C-FE3787E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715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586B6-EEFE-4CF8-A735-CA42D667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วันที่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7D894-D26A-4F00-B732-4195373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064AC-EFF7-457B-9B6A-C9F54771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04FAD-46AF-4958-8811-910557EA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9F364-45E4-4EC7-897F-1FFF79EF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จับคู่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59C23-C7D2-4DED-94BC-BE4C7695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อัตรา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33400" y="23717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F71E1-A898-40A2-BA24-5FF90540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9D4DB-4689-4C72-A63A-18CA4A71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57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4D44E-BA32-46B5-9249-D8EB6B5C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4,150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92D71-000D-4DF2-BE90-CDFDA822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4,164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FEF83-DCA1-4971-BFC5-5DF36611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1,109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567F2-5FD5-4F9B-98FF-CE57F07A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26.72%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27908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479603-B9D0-4C82-98BD-5E52072A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769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8DC2B-C718-454C-B4D9-603C5810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268D1-6777-4D33-A3E7-0AA9F8C5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765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6EF31A-9ABF-44CA-AC07-201940BE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4,556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E5E43-9CCF-4A63-BE14-A1AFC450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4,569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2C2A7C-9543-4CDB-93B8-76D7547A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1,182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4CA14-7120-48D2-8F5B-82B856C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25.94%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533400" y="32099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070DA-BF18-49A7-9FCC-D64101C3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7C54AE-0E1C-4B4B-A967-CD2A1BA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19165A-3EFA-4AA5-83DD-F9F574D2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4,491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7CCC9D-6568-44C9-AA47-76EF2E07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4,513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84448F-E249-4585-A318-ED3D871E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1,070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983709-F859-4E71-B16C-D952DF33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23.83%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E626B7-9C9C-4967-B2A1-E798E203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2289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856911-3613-427F-9E51-7C9A16BA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แนวโน้ม Match rate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8334375" y="32766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D448A0-1A58-4F57-B0EB-132379AF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3895"/>
            <a:ext cx="400050" cy="152705"/>
          </a:xfrm>
          <a:prstGeom xmlns:a="http://schemas.openxmlformats.org/drawingml/2006/main" prst="roundRect">
            <a:avLst>
              <a:gd name="adj" fmla="val 37425"/>
            </a:avLst>
          </a:prstGeom>
          <a:solidFill xmlns:a="http://schemas.openxmlformats.org/drawingml/2006/main">
            <a:srgbClr val="C5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7D08E9-E932-44E1-B445-184066CE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29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26.7%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E8C660-F29C-49A8-ABF3-9E23DE94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F452A3-D3AE-424E-A219-DD95593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28353"/>
            <a:ext cx="400050" cy="148247"/>
          </a:xfrm>
          <a:prstGeom xmlns:a="http://schemas.openxmlformats.org/drawingml/2006/main" prst="roundRect">
            <a:avLst>
              <a:gd name="adj" fmla="val 38551"/>
            </a:avLst>
          </a:prstGeom>
          <a:solidFill xmlns:a="http://schemas.openxmlformats.org/drawingml/2006/main">
            <a:srgbClr val="C5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8CC0EE-F5A9-434C-BDBE-4C329A42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99753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25.9%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803520-8C3B-4E9C-94B0-4BA8DD00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BDD540-6A83-4AF2-9D3C-AD988CB6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40412"/>
            <a:ext cx="400050" cy="136188"/>
          </a:xfrm>
          <a:prstGeom xmlns:a="http://schemas.openxmlformats.org/drawingml/2006/main" prst="roundRect">
            <a:avLst>
              <a:gd name="adj" fmla="val 41964"/>
            </a:avLst>
          </a:prstGeom>
          <a:solidFill xmlns:a="http://schemas.openxmlformats.org/drawingml/2006/main">
            <a:srgbClr val="C5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A497B9-A20D-4EC1-841D-EC0DB944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11812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23.8%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996A67-073B-463B-957D-A107451E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04CADE-354F-4B26-9A0D-F0589912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08394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CF3954-34C5-4DB8-BF1A-E59B5C0B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เช็กลิสต์ถามทีม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9E9D08-B840-4532-8DBF-B9279C82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562900-5FB0-457A-A787-191B2502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882594-EBDB-434A-92B4-31BD525D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ไฟล์ปริมาณใกล้เคียงเดิม แต่จับคู่ต่ำต่อเนื่อง—ตรวจ mapping บัญชี/Provider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A57CDA-70BA-40EA-835E-A54E966E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038A66-A841-48C3-9F77-0AD5084F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CCF713-574B-4372-8764-E0AB226F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ยืนยันคอลัมน์เวลาและ timezone ระหว่าง BO กับ STM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613342-A89F-4DA2-AADF-EB8CA9D7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AEC418-0E2B-4AFD-B788-DA777059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62B90E-317B-4793-B6C7-D9C313CD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นำไฟล์ชี้แจง 5 ไฟล์มาผูกกับเคสที่ไม่พบคู่</a:t>
            </a:r>
          </a:p>
        </p:txBody>
      </p:sp>
    </p:spTree>
    <p:extLst>
      <p:ext uri="{BB962C8B-B14F-4D97-AF65-F5344CB8AC3E}">
        <p14:creationId xmlns:p14="http://schemas.microsoft.com/office/powerpoint/2010/main" val="2497557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03D4D3-82C5-46D3-AEE6-6ADC39D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COMPANY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D5A90-130F-4885-9CE4-CC5528CA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MC8 — ผล 3 วันและรายการถามทีม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A7AB3-611C-400C-B20B-FA18C193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ไฟล์หลักครบทุก job • ค่าเฉลี่ยจับคู่ 49.62% • วันที่ 29 มีหลักฐาน 1 ไฟล์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84A2C-3D02-4B4A-89F3-603B5EF3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08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A070F-4619-4F2B-AECD-06019D57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AA8F4-26CE-45BE-85A4-CB8A7231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4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36304-2262-42DC-AD19-8D6D3700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715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EBF9F-5C5A-4C50-BA7A-2FF0C79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วันที่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535E4-332C-46C5-80B9-0043EEAB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37C5A-C90B-40BE-9809-13C2D666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BA23A-3D75-48F0-98EE-54E68F74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377A9-345E-4CD4-97F3-F57CDC9B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จับคู่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1E600-A63D-43AC-BE2C-28729A80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อัตรา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33400" y="23717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A55C7-A55E-4BC1-B2D3-36AA018F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D628C-2AA0-4974-8B80-ABD9945C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57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00041-783B-4B23-B056-57928B7A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813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28D79-125C-4BB9-BA84-8C6B2321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886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463BB-815A-4B61-BBE2-8BC7D62C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449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0BD94-824F-4824-A7A1-112C31C2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55.23%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27908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06827-022B-46D9-A3E9-77CDB82B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769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AAA072-D3A4-4483-887F-9375BF7A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A7F4D3-8129-4D79-9998-82E5C4F1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765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080FE5-00B3-4407-B87A-D9A5AB15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1,040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F1D4E4-98E0-4CC4-84F7-47A6A68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1,114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599E24-1D7F-4CA7-9FD5-10654EBE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578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0C8DD4-CB67-4964-975D-E40A412E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55.58%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533400" y="32099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7C133D-1064-4239-AC5B-E3AD6B76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D35DFC-3DC8-4178-B426-06637DB5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493253-9CAD-401E-9225-106E2D51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1,099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E7A2AC-115C-458A-BFA6-152DF995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1,373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98AA4A-E456-49A6-B113-74D48D03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418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BAC8A5-7D48-4B6D-A9B7-E66207A3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38.04%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4234D0-9EF2-4D97-81E3-13FF6F14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2289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2628A4-CE03-46DE-8197-9413AFA9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แนวโน้ม Match rate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8334375" y="32766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057299-E58E-4F8C-A291-81144AEE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60961"/>
            <a:ext cx="400050" cy="315639"/>
          </a:xfrm>
          <a:prstGeom xmlns:a="http://schemas.openxmlformats.org/drawingml/2006/main" prst="roundRect">
            <a:avLst>
              <a:gd name="adj" fmla="val 18106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61273F-6861-4F29-8F04-E898CC82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32361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55.2%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7E5B0E-5782-454B-86CD-B8792D03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1113D0-615D-4255-B525-2DF27C1F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58960"/>
            <a:ext cx="400050" cy="317640"/>
          </a:xfrm>
          <a:prstGeom xmlns:a="http://schemas.openxmlformats.org/drawingml/2006/main" prst="roundRect">
            <a:avLst>
              <a:gd name="adj" fmla="val 17992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DC3E66-C810-4622-B279-39E09762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3036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55.6%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919A90-3397-4083-9F5D-4F884AF7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F7D9CC-431A-4EEF-BB11-BB710B40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59201"/>
            <a:ext cx="400050" cy="217399"/>
          </a:xfrm>
          <a:prstGeom xmlns:a="http://schemas.openxmlformats.org/drawingml/2006/main" prst="roundRect">
            <a:avLst>
              <a:gd name="adj" fmla="val 26288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3F5477-6B13-42D0-A261-088B493E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30601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38.0%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798F0C-03A9-42A9-ABF9-2DDCA8DE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6B68F2-AA57-47D2-8493-BFDEF1CE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08394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30FE72-CED9-432B-8AF1-CA3CE8C6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เช็กลิสต์ถามทีม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78F967-EB10-45F1-BD7F-395FA4EE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761331-BF6E-456C-A9AA-9BE5F81D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76B4AF-18D8-4397-BBA0-B9409B0F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อัตราจับคู่ลดชัดในวันที่ 29 แม้จำนวนไฟล์ปกติ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B22ACB-3B82-45F6-8336-E8165134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48FBB2-78C6-4808-8757-CB752644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FBCE50-184B-4F6B-BE10-EAD97171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ตรวจคอลัมน์เวลา NaN/undefined และ Provider corepay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3A0E18-3BF3-4194-BBDE-2D8DDBFA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598831-D54C-4D95-B1F2-837D431F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567067-2EB7-401A-8838-77EC1E3E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ใช้ไฟล์ชี้แจง 1 ไฟล์ยืนยันเคสที่ตรงยอดแต่ผิดรูปแบบเวลา</a:t>
            </a:r>
          </a:p>
        </p:txBody>
      </p:sp>
    </p:spTree>
    <p:extLst>
      <p:ext uri="{BB962C8B-B14F-4D97-AF65-F5344CB8AC3E}">
        <p14:creationId xmlns:p14="http://schemas.microsoft.com/office/powerpoint/2010/main" val="60722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D96C7C-CBCF-48E0-979B-7F59CC8D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COMPANY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1D992-5138-4D83-95D1-6592C311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MR9 — ผล 3 วันและรายการถามทีม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4A74D-D1B6-4D40-A16E-AD52A8C2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ไฟล์หลักครบทุก job • ค่าเฉลี่ยจับคู่ 51.36% • วันที่ 29 มีหลักฐาน 6 ไฟล์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AB46F-044D-493C-B4C1-C86596B2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09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402E0-A19C-40E6-B7EF-5DD2ACB4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D6EA4-9288-434B-87A7-FC27FDEC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4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58454-B6E5-4191-BEBB-1A8EB656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715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6F711-0AA7-442D-A66B-A951256A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วันที่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6AE37-F607-4B54-B48F-816C6DF3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47EAD-EC47-43C7-9833-DC2A5D40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7DD3D-CCF4-48B2-8CBC-CE1E1452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41CC2-980C-4D68-AAA5-C9E27ED7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จับคู่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91293-9CB2-4C87-8203-72725738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อัตรา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33400" y="23717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4CBAE-BC24-41E1-98DE-8D39912E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88BDC-8488-4DA4-A7D1-D0F44E8A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57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BA062-47C8-4C28-8D53-A0B25460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1,062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C4343-A0FB-4724-97A3-7DD40645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1,129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0FCB6-A33C-43CC-A831-53489443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D6B6F-3B9F-47C1-BD4E-26671B5D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49.44%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27908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3BFA2-7C3F-4716-98B5-39F8A951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769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CADB0-16A6-4578-BF94-3E4E1EED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50488-CB58-40C7-BD11-DA871490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765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C2D89C-C7D9-42CA-856E-9AA56016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902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1A720C-18D6-4723-9427-19BA5226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989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3380BC-A45C-4312-AC1D-8D3BFDF3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8BA23E-10FE-4DD7-B4D9-AFA4D28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57.54%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533400" y="32099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17DB3F-3AEF-411C-8591-33646429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C07B39-86A0-46BC-B38D-5C2BF07F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50DB84-21AE-45DD-A143-20022EB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947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4FDF56-63C9-45F3-B7A9-47E164B2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1,017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69D698-CEB4-41F7-8E6B-6F61F2FF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446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23BC78-DCFA-4192-B6F9-53B965C6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47.10%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834141-F717-4F54-BB70-8DE271BF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2289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D97C1B-444A-4BDB-A62B-D52E93E9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แนวโน้ม Match rate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8334375" y="32766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2469EC-23C3-4A95-9888-08271810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94050"/>
            <a:ext cx="400050" cy="282550"/>
          </a:xfrm>
          <a:prstGeom xmlns:a="http://schemas.openxmlformats.org/drawingml/2006/main" prst="roundRect">
            <a:avLst>
              <a:gd name="adj" fmla="val 20227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9A3BB6-2B7B-4A63-B482-D22ECD27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5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49.4%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5E1A6C-670D-4F69-91D5-C1FCCEAF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3E0F99-8ABD-4E67-B744-4862067D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47759"/>
            <a:ext cx="400050" cy="328841"/>
          </a:xfrm>
          <a:prstGeom xmlns:a="http://schemas.openxmlformats.org/drawingml/2006/main" prst="roundRect">
            <a:avLst>
              <a:gd name="adj" fmla="val 17379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F47F57-B29E-4C43-A074-88BAB726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19159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57.5%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BE3626-94BC-4F7D-82D4-E5D6E41B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4404DD-C445-4DD0-95D0-500A26DA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07424"/>
            <a:ext cx="400050" cy="269177"/>
          </a:xfrm>
          <a:prstGeom xmlns:a="http://schemas.openxmlformats.org/drawingml/2006/main" prst="roundRect">
            <a:avLst>
              <a:gd name="adj" fmla="val 21231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D91ACC-CCF6-4813-A5C5-59AE84E9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78824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47.1%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B1178C-0B15-4CB8-9560-1DE58975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02F30B-7A0C-4152-AD97-236E73D1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08394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228D55-9B20-4DF4-B289-7A75064F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เช็กลิสต์ถามทีม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7F139A-5B8B-4A23-8FD9-22A4BE3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4984AF-09F6-4BBB-A3ED-D41D4B8A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495449-4F0A-4C6A-98B3-361AB436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จำนวนไฟล์หลักคงที่ แต่มีหลักฐานเพิ่ม 6 ไฟล์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DA61D8-12B8-480B-BB10-7E9CEEB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633C19-1977-4C07-A313-CD3EA81A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C2DBE5-F78E-4412-891B-D3F22204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ผูกไฟล์ชี้แจงกับรายการไม่พบคู่ก่อนปิดเคส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361DFB-8D47-4C82-8F89-D6D37BB4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62B5AA-970B-4C6B-A859-5A61A848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04B63A-346B-4007-830E-BB31BAD5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ยืนยันว่าชุด Provider ใน BO และ PM ครบทั้งฝาก/ถอน</a:t>
            </a:r>
          </a:p>
        </p:txBody>
      </p:sp>
    </p:spTree>
    <p:extLst>
      <p:ext uri="{BB962C8B-B14F-4D97-AF65-F5344CB8AC3E}">
        <p14:creationId xmlns:p14="http://schemas.microsoft.com/office/powerpoint/2010/main" val="537002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AC3C69-2342-4B09-A9DD-C140ED2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COMPANY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57022-E135-454D-83F7-E03C6C0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PS8 — ผล 3 วันและรายการถามทีม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19935-AB9D-485C-B59F-71838BBC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ไฟล์หลักครบทุก job • ค่าเฉลี่ยจับคู่ 65.92% • วันที่ 29 มีหลักฐาน 0 ไฟล์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BFE72-36EA-41E5-B295-44F46B08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600B1-9984-4C01-9DE5-E75620E6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7372A-ACC3-4671-9DE6-D7418ADA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4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8A52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8A52"/>
                </a:solidFill>
                <a:latin typeface="Kanit"/>
                <a:ea typeface="Kanit"/>
                <a:cs typeface="Kanit"/>
              </a:rPr>
              <a:t>ปกติ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AC68F-B032-4C97-B1DC-E12DE8E0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715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8B211-7862-4CFC-941C-A8F5C9C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วันที่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EF64A-6872-4CFD-904E-B88454DF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B9D64-2588-48F6-95D6-5BBEB3D6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9CE5E-7A9D-4C0F-A2FA-0676AEAF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31728-24CD-4F6E-A7C1-69D5A8AD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จับคู่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A1BAA-9E46-4461-8988-DD127402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อัตรา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33400" y="23717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BB4F3-07FB-4C13-9143-098631E6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9E58C-B5E5-4078-B9DC-E75AC3EC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57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B9EEA-F3B3-4C2F-ADDF-AE2A5ABF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7A915-3760-4ED9-AC39-BDB27D9B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363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C3B7A-0951-4547-B331-3E2253CD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99700-E9C5-4999-973E-8BF6398B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68.59%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27908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764F2-9374-403D-B218-7D9D75C3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769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E4DEA-F93F-458D-AB19-B3A3F937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5F5CE-45AF-4DCF-9E64-9EBA1DCC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765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D4AB0-F586-45BB-A617-B18B1133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331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C63B9-22D7-47D3-8098-D99DD4F0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371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33B147-DD54-4B45-B136-F86CA58B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229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53A253-43D3-4CDC-9B52-2FC275CA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69.18%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533400" y="32099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FEC23F-052A-45FD-B70C-C3DFD5B0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6F7BEF-1550-4819-90C8-8F71016D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9103F6-4344-44CC-BDB0-9B39A9D5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3E5DA1-F83E-4EE0-9225-519A6FF0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366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2373F7-5B3B-45EA-86DE-83264643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183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4FCBA-E222-4D37-A120-0B7158CD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60.00%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D89488-052F-493C-AF81-556E7536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2289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10107C-C9AC-4634-88F5-BBAD9278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แนวโน้ม Match rate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8334375" y="32766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30722E-8907-471A-A752-00762E95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84608"/>
            <a:ext cx="400050" cy="391992"/>
          </a:xfrm>
          <a:prstGeom xmlns:a="http://schemas.openxmlformats.org/drawingml/2006/main" prst="roundRect">
            <a:avLst>
              <a:gd name="adj" fmla="val 14579"/>
            </a:avLst>
          </a:prstGeom>
          <a:solidFill xmlns:a="http://schemas.openxmlformats.org/drawingml/2006/main">
            <a:srgbClr val="118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1FFEE8-1D58-48E0-9CC2-6AC7C5F6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56008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68.6%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6BC5B7-3AEC-4402-BDD5-B2D8E356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9754B1-FEAE-4747-B94C-8EF77A6D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81236"/>
            <a:ext cx="400050" cy="395364"/>
          </a:xfrm>
          <a:prstGeom xmlns:a="http://schemas.openxmlformats.org/drawingml/2006/main" prst="roundRect">
            <a:avLst>
              <a:gd name="adj" fmla="val 14455"/>
            </a:avLst>
          </a:prstGeom>
          <a:solidFill xmlns:a="http://schemas.openxmlformats.org/drawingml/2006/main">
            <a:srgbClr val="118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6D8783-167A-4D19-BA25-4CEA731C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52636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69.2%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AB8B9F-56D6-4377-861A-FEC09560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3D895D-F948-4F8A-B39F-9DF09965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33700"/>
            <a:ext cx="4000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8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E44EA8-2094-4CD4-8F43-FC101FE0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0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60.0%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970D62-9895-4EA1-9149-001149A5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F978BF-10F4-4520-AB69-131E6197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08394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9B0F3F-7D0E-4054-B240-F02807A5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เช็กลิสต์ถามทีม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870A26-17EB-4BAD-BDA4-47058BB6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B69CD2-A579-406E-823E-A3B72163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F11CB0-01C4-41DB-ABEC-69499210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จำนวนไฟล์คงที่ 11 ไฟล์ทุกวัน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4E69F4-DB0D-421B-887C-00E91698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EB4470-5C96-47EA-B34B-A81F9054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BB7F1F-05E1-4B96-9BAB-8290D6D6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ยืนยันความครบถ้วนกับทีม แล้วใช้เป็น baseline เปรียบเทียบบริษัทอื่น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CE0C3D-4DBA-429E-A469-5B2F8779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3A5F94-50E8-4931-9B71-BED193B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633C85A-0718-4197-B25A-4343F95B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สุ่มตรวจเคสไม่พบคู่เพื่อยืนยัน tolerance</a:t>
            </a:r>
          </a:p>
        </p:txBody>
      </p:sp>
    </p:spTree>
    <p:extLst>
      <p:ext uri="{BB962C8B-B14F-4D97-AF65-F5344CB8AC3E}">
        <p14:creationId xmlns:p14="http://schemas.microsoft.com/office/powerpoint/2010/main" val="128247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AB71B0-1031-47E7-BEA6-3BE6F6FD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COMPANY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2C152-9854-4D2C-A37E-D22E6129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SK8 — ผล 3 วันและรายการถามทีม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55A01-8653-46A4-9241-5512830B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ไฟล์หลักครบทุก job • ค่าเฉลี่ยจับคู่ 9.71% • วันที่ 29 มีหลักฐาน 1 ไฟล์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44DFF-0C5C-46F7-B3F7-A48E6418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A7CBF-5E02-4F35-843F-EC4D31F0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27243-CE63-4974-A9DF-AECAF3A8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4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53A3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C53A3A"/>
                </a:solidFill>
                <a:latin typeface="Kanit"/>
                <a:ea typeface="Kanit"/>
                <a:cs typeface="Kanit"/>
              </a:rPr>
              <a:t>เร่งตรวจ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3C1C2-01B5-42E9-A24D-AE7B76C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715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1B39F-55D2-4881-AE85-59527929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วันที่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EA958-773D-4216-ABD9-8811BE57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EFAC8-19E7-4093-AC6C-560CD8AC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B034C-F207-4904-87D6-94F7BA3D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69565-0619-4A8F-A0D8-235705F5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จับคู่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D708C-4D38-4EA5-8D45-BF10BEB4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อัตรา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33400" y="23717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372A4-68B4-4FC5-AE2A-F5628FE3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8A207-CFB3-4D7F-B6D1-FCFDAE7F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57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BD03A-28E0-477D-B309-EB4E1E3A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572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94C24-F2DA-4145-ACFF-E9922C17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A89E8-71BE-4CC4-ADEA-5666AFCB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927C7-62F5-41C3-A1E1-AC68BA0A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3.85%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27908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A50C7-B830-4E98-BAE6-D95E8754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769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69238-2F61-40AB-B231-448C23FE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3969F2-E485-4215-96C2-B4AB0E6A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765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BDA60E-23F8-4342-A855-CD7EE7A4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57F148-13FD-4900-933F-7F6AA406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D771C6-8BE5-4CBF-A6A2-D1AF29AA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1171DF-62CB-47AB-889F-D47427EF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13.69%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533400" y="32099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508BAF-3E1B-4E02-A3A6-AB592B5A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7F5415-1016-4F11-9D63-D92876F6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B5A71D-458E-4EC7-8F66-107312E4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535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AF1CC3-E5E2-49A8-8662-F785DD5A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547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8648EB-BF8E-4E2A-87EC-1C69BF00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2D908B-96C9-4EAE-941F-79F00D9E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11.59%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5D7226-CF39-4778-B3B5-39AFCA4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2289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4E3681-BF42-44FE-A93C-71DBE764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แนวโน้ม Match rate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8334375" y="32766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76D2B8-C820-4989-9B21-60507326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F98941-4E30-42EF-B366-92411E25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3.9%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8CC5D2-F773-4299-AD91-2BC672FE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CA2FFD-9C5A-4783-BD39-875FD39A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98362"/>
            <a:ext cx="400050" cy="7823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8E35F5-1010-430B-A88E-559A5FAF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69762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13.7%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368ADF-C34D-4F8A-A978-F9816791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4A19AF-4432-4121-952C-47EFF82F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10363"/>
            <a:ext cx="400050" cy="6623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A8103D-DED3-484C-81F3-4B2E5936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81763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11.6%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105610-CCDB-44CB-A8D4-F4F11EC3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98355F-412D-4404-B035-01CF4B98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08394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998177-F815-443F-B5CB-7E9EEEAC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เช็กลิสต์ถามทีม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226B8D-B194-4D0A-8447-2F9EA455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370DBF-7CF3-4AA3-B88C-1438E7A7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9C1076-DDF7-4980-A3F5-477AD98D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อัตราจับคู่ต่ำมากทั้ง 3 วัน—ตรวจ rule/mapping ก่อนสรุปผล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3644D2-8539-4648-9F72-1D1583DA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B07A46-B73D-4A0D-A160-7B9A10CB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A5347C-23E5-409E-8745-05EB587C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ยืนยันไฟล์ทุก Provider และทั้ง D/W โดยเฉพาะวันที่ 29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2CF5C5-AAB2-42E7-84CF-4A335A40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72C913-8C27-46D1-83AF-9D6719DB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6D371A-BD2F-4BB6-AE03-49495BCA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ตรวจชนิดข้อมูลยอด เวลา และรหัสบัญชีว่าตรง BO หรือไม่</a:t>
            </a:r>
          </a:p>
        </p:txBody>
      </p:sp>
    </p:spTree>
    <p:extLst>
      <p:ext uri="{BB962C8B-B14F-4D97-AF65-F5344CB8AC3E}">
        <p14:creationId xmlns:p14="http://schemas.microsoft.com/office/powerpoint/2010/main" val="16170976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E77580-F667-4168-8689-CCD19A26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COMPANY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CE78C-E236-4D22-82ED-5ECB18FB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UFABET7M — ผล 3 วันและรายการถามทีม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5A42B-7EC5-4D0F-9949-E7F16ECD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ไฟล์หลักครบทุก job • ค่าเฉลี่ยจับคู่ 76.91% • วันที่ 29 มีหลักฐาน 3 ไฟล์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1AC8C-B0D8-4CF4-8E58-DC85EBBC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12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DC022-0B6F-48C4-8EB6-0CC1F0D4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782F3-3C10-40A7-AFCA-01FC32CB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4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23494-46ED-4BA4-9C10-A9551C93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715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048AC-EABA-4F4C-A588-31E30EE2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วันที่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4C2C9-DDD7-4B58-BCB8-9A22CD54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72C21-89D5-4075-A645-54CCCC96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55C06-1EFB-4810-A108-4433309A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407F3-112D-432B-912D-16B1AD7E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จับคู่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A4F4C-6732-4936-A832-124C3AE8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อัตรา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33400" y="23717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13019-C2BB-4EA3-A69A-3A9F8B5E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865CE-E001-4EDC-8C0B-9BFA6C7D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57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612B5-D985-49AB-8516-DE779E72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1,981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E41CE-35B2-4579-8E62-6CD5B042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1,966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B58AC-8AE8-41F5-A5A2-DBD03188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1,738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923F6-07AF-4D07-9994-B0A713BD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87.73%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27908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2E04E-43E9-429E-955A-E27B8993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769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C0EF8-6E11-4E8A-BC14-9625A92D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EF2190-6C18-493D-917B-D50ADC1E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765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E28F9-DF98-4B64-B532-ACFBB673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2,274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CC46E-6C73-4253-9239-EAC5E5BC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2,163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4E93E-E4FB-4CDA-A5DE-0C9BA0E0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1,857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7D384-ECD3-4B53-98DC-46F90462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81.66%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533400" y="32099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F3453D-129C-4B93-8801-41A00D9F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238EB4-AAD3-404B-9485-6219BF2E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54A811-5FA3-4679-A3D4-8834E174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2,757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F3B305-931A-4F3D-B66B-F23037FF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2,698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D85E44-9771-457C-B70E-45A6222F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1,691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5398EC-B6F8-4BB9-9B87-A4250218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61.34%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D6403D-0C3B-49F9-A9E1-B01B88F9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2289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6567BA-AD07-4F14-8BE7-12A028EF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แนวโน้ม Match rate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8334375" y="32766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B3950F-2892-4690-BEFB-1440535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5223"/>
            <a:ext cx="400050" cy="501377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8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BDDE00-60F1-466A-A8E8-507938D7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46623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87.7%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7D65C7-EAB0-453A-98DC-51C686F1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746A27-6E08-49E9-841F-DBABCAB9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9913"/>
            <a:ext cx="400050" cy="466687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8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85BC79-A6B7-4FD1-AEF4-09F8FF04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81313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81.7%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91C7A0-D2B8-47E0-B5FF-5DC90A3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4FB88E-A8BD-4501-B3EF-A57D7B12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26042"/>
            <a:ext cx="400050" cy="350558"/>
          </a:xfrm>
          <a:prstGeom xmlns:a="http://schemas.openxmlformats.org/drawingml/2006/main" prst="roundRect">
            <a:avLst>
              <a:gd name="adj" fmla="val 16303"/>
            </a:avLst>
          </a:prstGeom>
          <a:solidFill xmlns:a="http://schemas.openxmlformats.org/drawingml/2006/main">
            <a:srgbClr val="118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85C694-34F6-4458-86A9-778F208E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97442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61.3%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67D70E-A981-402B-B15A-67779801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15F76A-D062-4904-8ED2-9CEC58B9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08394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E41B37-6C63-4A46-B110-7959C69F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เช็กลิสต์ถามทีม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9B1074-C181-4E56-AF38-E0B60DF6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38DFD3-E162-4311-AF9C-5E5493AD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25C32D-E971-4AF5-B8F9-19106099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จำนวนไฟล์คงที่ แต่ match rate ลดลงต่อเนื่อง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E9788B-5C64-40BB-811A-ABA34616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3E5D9B-D112-4D36-BB20-B05AB37F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2782E9-5A9E-4A5C-8519-B739D513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ตรวจ distribution เวลา/ยอดของวันที่ 29 และค่า tolerance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02EFEB-4DE3-4296-806A-EE458917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BEF42D-6772-4A58-B246-59972DCB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C2E5C9-6148-4814-9C0D-6210942D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นำหลักฐาน 3 ไฟล์มาผูกเคสก่อนอนุมัติ</a:t>
            </a:r>
          </a:p>
        </p:txBody>
      </p:sp>
    </p:spTree>
    <p:extLst>
      <p:ext uri="{BB962C8B-B14F-4D97-AF65-F5344CB8AC3E}">
        <p14:creationId xmlns:p14="http://schemas.microsoft.com/office/powerpoint/2010/main" val="17246067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F74EDD-349E-45CD-A07B-887084F1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COMPANY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E2925-B019-40C9-BF4D-6883B591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UR9 — ผล 3 วันและรายการถามทีม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37F04-7FB5-478C-90EE-39746073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ไฟล์หลักครบทุก job • ค่าเฉลี่ยจับคู่ 46.53% • วันที่ 29 มีหลักฐาน 0 ไฟล์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58E1C-480B-4BED-AA35-F232037B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13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D743B-AECE-4DD9-9938-A3EB6C14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3CB2B-375F-4AF0-9D32-EFFB7D3C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4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8A52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8A52"/>
                </a:solidFill>
                <a:latin typeface="Kanit"/>
                <a:ea typeface="Kanit"/>
                <a:cs typeface="Kanit"/>
              </a:rPr>
              <a:t>ปกติ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FD692-062E-4BCF-AF53-FD1222A9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715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B7768-A508-4786-8042-475081E6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วันที่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5C489-A276-48FF-BBE3-7296C1FA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E04CC-DC36-4BA5-A6B8-5FEB7A06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E623A-6273-4CBC-90F7-A9074B17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A235F-72A0-428A-BB62-378669ED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จับคู่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3DD8E-6391-4B7B-9E42-D3B4407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383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อัตรา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33400" y="23717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4668E-318F-4581-A019-5AFE07C7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302DC-DACA-4C92-940B-3B1F2C32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574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1A66F-F7FE-46F2-97DD-F05EBCDE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496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0E386-A832-4372-8407-FF7E1814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544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1A79A-4AD9-4E5F-8D37-C875F08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155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AD8FA-283F-439B-ADD1-6CD70B86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574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31.25%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27908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88C77-66C5-4BF7-9D61-BE77E22A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90825"/>
            <a:ext cx="769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26286-8B0B-4F27-B30E-8042D20A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FAF5F-4A64-41C4-BF25-0AECC91A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765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26B56-9B2B-47BE-A6F3-A7736E20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F6CC4-540D-45A7-971C-EDBD7221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658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00446-86F7-46B6-ADDB-320A3741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329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84A6D0-3751-49CE-BD76-B0894F29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765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54.02%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533400" y="320992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98868A-1BD5-43DA-A42E-5580FAF2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8E27C-D463-451E-B7B0-4A40C5DB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AB9386-79E2-4411-BDD7-979D784F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521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4DC22C-856B-4358-9403-BD724184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563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D92132-6F71-494D-84D7-EDB1E4B2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283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9B2391-8E1D-4ED4-A942-8762B919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956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54.32%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36247D-9CCC-4CB8-9609-0E324A7C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2289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D4B493-A8C8-4837-BC96-9C16E9E5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แนวโน้ม Match rate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8334375" y="32766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019D14-D4E7-4AE5-AF5E-C0083FB3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8006"/>
            <a:ext cx="400050" cy="178594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217209-240E-49F6-8FC0-B4919990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69406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31.3%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E2F8F1-A661-46D2-9FF8-E1E749F7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2AD5F5-3737-4C35-9A2B-C9ECF053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67876"/>
            <a:ext cx="400050" cy="308724"/>
          </a:xfrm>
          <a:prstGeom xmlns:a="http://schemas.openxmlformats.org/drawingml/2006/main" prst="roundRect">
            <a:avLst>
              <a:gd name="adj" fmla="val 18512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F5F1CB-1E7E-4E33-A603-2103C6D8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39276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54.0%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30ACA7-6CC2-43DE-BD58-2ABC3AF0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8F5076-E02F-4431-B29F-BB2113E9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66161"/>
            <a:ext cx="400050" cy="310439"/>
          </a:xfrm>
          <a:prstGeom xmlns:a="http://schemas.openxmlformats.org/drawingml/2006/main" prst="roundRect">
            <a:avLst>
              <a:gd name="adj" fmla="val 18409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F046C4-94B0-4878-B6A4-0E77AB4B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37561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54.3%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1E7CE5-8A39-42DB-B833-1D8D9EF8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33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63CD44-9049-4CE0-BB06-8F5DBF42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08394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33AC07-C79E-4A20-A376-CCAF17AD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เช็กลิสต์ถามทีม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5E42B0-FE82-471F-AB30-D44C83D5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E3A8C7-F8A5-4B0B-90E9-4B5BD352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084177-ABC1-464D-85BF-904DB554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จำนวนไฟล์คงที่และแนวโน้มดีขึ้น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04D025-8097-4E43-B4EA-450DA51E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8FF237-1BDB-40B1-B48B-C662EB19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9D4F53-0FDA-40B9-A14C-5B01FA4F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ยืนยัน BO + PM ครบตามอีเมลวันที่ 27–29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42CBD6-125F-4309-A238-27813454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BCDF06-786C-4A9C-8C07-2BD7A9F7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E1CF2A-6D75-4863-B8EA-F88EEC7B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สุ่มตรวจ Provider ที่ยังไม่พบคู่ก่อนปิดรอบ</a:t>
            </a:r>
          </a:p>
        </p:txBody>
      </p:sp>
    </p:spTree>
    <p:extLst>
      <p:ext uri="{BB962C8B-B14F-4D97-AF65-F5344CB8AC3E}">
        <p14:creationId xmlns:p14="http://schemas.microsoft.com/office/powerpoint/2010/main" val="14064308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0E7CFA-2409-4C16-887B-F8049AD6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ACTION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BA3D9-A75C-4E61-91A7-831630E0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ลำดับการติดตามทีม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F95EF-2D3B-4AB4-AD06-6F094C44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ถามตามความเสี่ยงและความเป็นไปได้ของข้อมูลตกหล่น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22849-CC0D-4C7D-9C3A-2EEE3935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14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73DD3-9A19-427D-8A7B-2E769253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08394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8BB83-D2EF-4EEB-AEE2-9EB396A8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66925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BEEA4-1E34-4726-9E16-18FFA168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050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53A3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C53A3A"/>
                </a:solidFill>
                <a:latin typeface="Kanit"/>
                <a:ea typeface="Kanit"/>
                <a:cs typeface="Kanit"/>
              </a:rPr>
              <a:t>เร่งด่วน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695AA-9915-4F87-9499-92C9C2FD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764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SK8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14D6A-256F-4BF7-AB8C-CD6BEAE4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Match 3.85–13.69% ต่ำผิดปกติทั้ง 3 วัน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00D5C-688A-45C3-B7F6-53672E38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08394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037B2-5228-434A-A17A-76370F75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D0C89-4527-438E-B6DB-22C9FCFF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53A3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C53A3A"/>
                </a:solidFill>
                <a:latin typeface="Kanit"/>
                <a:ea typeface="Kanit"/>
                <a:cs typeface="Kanit"/>
              </a:rPr>
              <a:t>เร่งด่วน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34D9B-54E4-4670-81FF-42E7D868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432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FR8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DABFA-6A37-4A1D-A22C-24C0C253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ไฟล์ครบ แต่ match ลด 26.72% → 23.83%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274D9-AC5F-4534-BE99-34AC173A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108394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6FDBD-31AE-4F2C-936E-B4555B96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0425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DB38C-DB74-44DB-B5D1-D85E2568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385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ตรวจวันนี้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12CB9-BE01-461D-B38E-228C2FED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099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MC8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B6944-E624-4622-8548-E3F29AA6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วันที่ 29 match ลดเหลือ 38.04% และพบปัญหาเวลา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8A9C7-7AA3-414D-AC28-DA2B6F48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08394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A378D-422B-4B88-A4B0-83746F8E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76FCA-B290-46B1-9A9C-CA10CF85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ยืนยันไฟล์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6E5DA-0668-4FB9-A1BF-7F45052B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767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3XB / AT4 / SK8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40DC2-8197-40A6-9E2D-C616192B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วันที่ 29 จำนวนไฟล์ลดลงจากวันที่ 27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E77B5D-92BA-4055-AAC9-907FA9AF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108394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5477F-E880-4296-8BBF-E4BCF9C5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33925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DF55BE-6DCB-46F7-8DD0-73F4A353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20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ผูกหลักฐาน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EFEE7F-4D15-4204-9C32-57219112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434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FR8 / MR9 / UFABET7M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52AD03-CE31-41FB-A297-8EE594B2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434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มีไฟล์ชี้แจงรวม 14 ไฟล์ในวันที่ 29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21981-EBE8-41B6-B20C-561F9989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08394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D9B9DD-40FC-4FED-99D6-99F01BFE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54B5F-A00C-434A-BD84-79B9AF9D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387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8A52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8A52"/>
                </a:solidFill>
                <a:latin typeface="Kanit"/>
                <a:ea typeface="Kanit"/>
                <a:cs typeface="Kanit"/>
              </a:rPr>
              <a:t>สุ่มยืนยัน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FFFBE0-706F-4BD9-AE55-026BA590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102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PS8 / UR9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92878E-DF4C-4020-B98D-4B3EC74C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10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ไฟล์คงที่และแนวโน้มปกติ</a:t>
            </a:r>
          </a:p>
        </p:txBody>
      </p:sp>
    </p:spTree>
    <p:extLst>
      <p:ext uri="{BB962C8B-B14F-4D97-AF65-F5344CB8AC3E}">
        <p14:creationId xmlns:p14="http://schemas.microsoft.com/office/powerpoint/2010/main" val="5261735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9B882B-95DE-46CD-997B-1D988318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OPERATING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A7A96-ED84-4A92-9DA6-68D87D53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วิธีดำเนินงานของระบบ — 1 หน้า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13617-27DD-438C-B9C4-4C5AFF0C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ผู้ใช้งานทำตามซ้ายไปขวา และหยุดเฉพาะจุดที่ระบบขึ้นสีเหลือง/แดง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28884-FED4-4FB0-8152-311526F3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15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533400" y="16573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7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8A87E-5BB8-4A7B-9244-1D5F1FA2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352550" cy="17526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280AC-D466-4F86-A6E9-FDCFFF3B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A7D85-F7F4-4A14-A664-8A0E865D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20B1C-5959-4BE7-83D3-22A78011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รับเมล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2E3DF-E41D-46B0-91D9-9A6536B7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n8n ดึงเมล</a:t>
            </a:r>
          </a:p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เก็บไฟล์จริง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61E32-7971-47FE-B0A6-4BB9B5E7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24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43B65-A337-4333-AF0E-EB040C23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00250"/>
            <a:ext cx="1352550" cy="17526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E9206-2806-46B1-9C86-FEDE9DC4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52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88701-BEA0-40FA-A54A-19F602DF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90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BFA4A-3526-4B66-A2A7-F6472140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098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จัดประเภท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531C5-A25C-44EA-B976-4EA245B6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099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บริษัท • วันที่</a:t>
            </a:r>
          </a:p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STM / BO / 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8BE0F-66C4-4354-957A-04A77714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E42CF-CDCF-4F13-9DC4-D024D86A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1352550" cy="17526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CCF0F-C784-4439-AEFA-B907668D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52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0D053-736F-413C-968F-5C24B452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90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8E767-A7CB-4C19-B7A4-6959B23B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98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ตรวจไฟล์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70E7A-1758-4E32-868E-76A108E8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Preview และแก้</a:t>
            </a:r>
          </a:p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ประเภท/บริษัท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4A673-D14B-4131-899D-84B544D1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0ACB9A-6383-4554-8DE9-DFE3D680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1352550" cy="17526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2D985-C2F5-48A2-98C7-6B5E8B36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52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ECAC8-FAB2-4581-AA85-40D6DDE3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46905E-610F-4B63-8DE1-E19812D4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98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อ่านข้อมูล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1CA7A-F890-4637-8431-C6817E72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099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Excel / CSV / PDF</a:t>
            </a:r>
          </a:p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ผ่าน quality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AED2E3-7AA8-49D6-8CA7-738C57B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24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100EAF-98D1-42D3-9A90-8173BDF3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1352550" cy="17526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0F12F3-8EF8-4014-ACAC-BEDEB605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28D15C-327D-426E-9A71-3C20565F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85DC33-5948-452E-A67C-1BB7CB71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กระทบยอด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E0ED74-D9AD-45FC-BB4C-CC2C52AB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ยอด • บัญชี</a:t>
            </a:r>
          </a:p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เวลาใน tolerance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6E4A3F-3DC2-4A6D-93D5-7A922F9E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1E1894-2B38-471F-9FF7-AC69509A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352550" cy="17526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800F9D-22D1-4057-B353-1F88BA77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5D18DE-427E-4DAB-80A5-7A5011E7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C29798-7B4A-4F53-9F44-93D7EA34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จัดการเคส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4A8044-7F4B-42CF-A01E-63DEBC09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ผูกหลักฐาน</a:t>
            </a:r>
          </a:p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ชี้แจง/ความเสียหาย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AA441E-E9EB-449E-B5BD-AB84FFE2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0B82D6-95AB-4871-8CD8-839FAAF7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0250"/>
            <a:ext cx="1352550" cy="17526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982179-D53E-407F-A43A-5B06102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52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A6AA0C-9200-40D6-A848-ADE5C015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90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3C06DE-F368-4F19-9AF1-671E655C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98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อนุมัติ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46DABB-B102-4137-A75A-8A61BF58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99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ปิดเคสและ</a:t>
            </a:r>
          </a:p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Export รายวัน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8D8787-B555-43DE-A7E6-4C769D24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08394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F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B6AF36-9BEC-4986-B919-C16653E6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B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B2B4B"/>
                </a:solidFill>
                <a:latin typeface="Kanit"/>
                <a:ea typeface="Kanit"/>
                <a:cs typeface="Kanit"/>
              </a:rPr>
              <a:t>ผู้ใช้งานต้องทำอะไรเมื่อพบปัญหา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F99E2C-AE65-49D2-8AC8-45BA1134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ไฟล์อ่านไม่ได้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6AE2F8-4535-46B3-A6CE-A6EBADBD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00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เปิด Preview → อัปไฟล์ใหม่แทนที่ → บันทึกและรับต่อ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8A9131-C518-46EA-987F-53EF9667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006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ผิดประเภท/บริษัท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041D81-04DC-432F-A7EE-7030147B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00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เลือกค่าใหม่ → บันทึกและรับต่อ → ระบบส่งกลับคิวอัตโนมัติ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5E27BE-9871-4B33-9404-86E6C1E7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ไม่พบคู่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1F7A51-82C2-4BBE-BB37-3177E743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เปิดเคส → ดูไฟล์ประกอบ → ผูกไฟล์ชี้แจง → อนุมัติหรือส่งถามทีม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9E98B1-468F-483F-8363-ED143F35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38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67D0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0867D0"/>
                </a:solidFill>
                <a:latin typeface="Kanit"/>
                <a:ea typeface="Kanit"/>
                <a:cs typeface="Kanit"/>
              </a:rPr>
              <a:t>ยอด/เวลาตรง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E89FB0-EB70-4D79-9F41-E74CCE7E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38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3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ถ้าอยู่ใน tolerance ให้ปิดอัตโนมัติ; ถ้า format เสียให้คนยืนยันก่อน</a:t>
            </a:r>
          </a:p>
        </p:txBody>
      </p:sp>
    </p:spTree>
    <p:extLst>
      <p:ext uri="{BB962C8B-B14F-4D97-AF65-F5344CB8AC3E}">
        <p14:creationId xmlns:p14="http://schemas.microsoft.com/office/powerpoint/2010/main" val="2080707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2026-08-30T06:07:33.8770000Z</dcterms:created>
  <dcterms:modified xsi:type="dcterms:W3CDTF">2026-08-30T06:07:33.8770000Z</dcterms:modified>
</coreProperties>
</file>