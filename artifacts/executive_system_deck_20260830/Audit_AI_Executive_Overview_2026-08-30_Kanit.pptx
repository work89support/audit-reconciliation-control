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2b22067b384ef8" /><Relationship Type="http://schemas.openxmlformats.org/officeDocument/2006/relationships/extended-properties" Target="/docProps/app.xml" Id="R743995f9569b4758" /><Relationship Type="http://schemas.openxmlformats.org/officeDocument/2006/relationships/officeDocument" Target="/ppt/presentation.xml" Id="R50b1d238ce3d4b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0de78bd57b412f"/>
  </p:sldMasterIdLst>
  <p:notesMasterIdLst>
    <p:notesMasterId xmlns:r="http://schemas.openxmlformats.org/officeDocument/2006/relationships" r:id="R0a5a18831fbd4dfc"/>
  </p:notesMasterIdLst>
  <p:sldIdLst>
    <p:sldId xmlns:r="http://schemas.openxmlformats.org/officeDocument/2006/relationships" id="256" r:id="Reeb2a8f2b31f4d4d"/>
    <p:sldId xmlns:r="http://schemas.openxmlformats.org/officeDocument/2006/relationships" id="257" r:id="Rce29af6aced6423f"/>
    <p:sldId xmlns:r="http://schemas.openxmlformats.org/officeDocument/2006/relationships" id="258" r:id="Rb7126a93d3704b38"/>
    <p:sldId xmlns:r="http://schemas.openxmlformats.org/officeDocument/2006/relationships" id="259" r:id="Rac1071ca8f614fae"/>
    <p:sldId xmlns:r="http://schemas.openxmlformats.org/officeDocument/2006/relationships" id="260" r:id="Ra519c501062046ef"/>
    <p:sldId xmlns:r="http://schemas.openxmlformats.org/officeDocument/2006/relationships" id="261" r:id="R75f30ceabff248a2"/>
    <p:sldId xmlns:r="http://schemas.openxmlformats.org/officeDocument/2006/relationships" id="262" r:id="R87b3cd0b45e943ab"/>
    <p:sldId xmlns:r="http://schemas.openxmlformats.org/officeDocument/2006/relationships" id="263" r:id="Rf13ef14d4ada4ece"/>
    <p:sldId xmlns:r="http://schemas.openxmlformats.org/officeDocument/2006/relationships" id="264" r:id="Rcbec287cdea84be2"/>
    <p:sldId xmlns:r="http://schemas.openxmlformats.org/officeDocument/2006/relationships" id="265" r:id="R21930fece4b64fb9"/>
    <p:sldId xmlns:r="http://schemas.openxmlformats.org/officeDocument/2006/relationships" id="266" r:id="Rfeb12d3316cf4e12"/>
    <p:sldId xmlns:r="http://schemas.openxmlformats.org/officeDocument/2006/relationships" id="267" r:id="Rec459bc49e8147b9"/>
    <p:sldId xmlns:r="http://schemas.openxmlformats.org/officeDocument/2006/relationships" id="268" r:id="R714cfda2d89b42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421f4993864939" /><Relationship Type="http://schemas.openxmlformats.org/officeDocument/2006/relationships/slideMaster" Target="/ppt/slideMasters/slideMaster1.xml" Id="R290de78bd57b412f" /><Relationship Type="http://schemas.openxmlformats.org/officeDocument/2006/relationships/notesMaster" Target="/ppt/notesMasters/notesMaster1.xml" Id="R0a5a18831fbd4dfc" /><Relationship Type="http://schemas.openxmlformats.org/officeDocument/2006/relationships/presProps" Target="/ppt/presProps.xml" Id="R0a6e304829b44318" /><Relationship Type="http://schemas.openxmlformats.org/officeDocument/2006/relationships/tableStyles" Target="/ppt/tableStyles.xml" Id="Recb70cc74cd7479b" /><Relationship Type="http://schemas.openxmlformats.org/officeDocument/2006/relationships/slide" Target="/ppt/slides/slide1.xml" Id="Reeb2a8f2b31f4d4d" /><Relationship Type="http://schemas.openxmlformats.org/officeDocument/2006/relationships/slide" Target="/ppt/slides/slide2.xml" Id="Rce29af6aced6423f" /><Relationship Type="http://schemas.openxmlformats.org/officeDocument/2006/relationships/slide" Target="/ppt/slides/slide3.xml" Id="Rb7126a93d3704b38" /><Relationship Type="http://schemas.openxmlformats.org/officeDocument/2006/relationships/slide" Target="/ppt/slides/slide4.xml" Id="Rac1071ca8f614fae" /><Relationship Type="http://schemas.openxmlformats.org/officeDocument/2006/relationships/slide" Target="/ppt/slides/slide5.xml" Id="Ra519c501062046ef" /><Relationship Type="http://schemas.openxmlformats.org/officeDocument/2006/relationships/slide" Target="/ppt/slides/slide6.xml" Id="R75f30ceabff248a2" /><Relationship Type="http://schemas.openxmlformats.org/officeDocument/2006/relationships/slide" Target="/ppt/slides/slide7.xml" Id="R87b3cd0b45e943ab" /><Relationship Type="http://schemas.openxmlformats.org/officeDocument/2006/relationships/slide" Target="/ppt/slides/slide8.xml" Id="Rf13ef14d4ada4ece" /><Relationship Type="http://schemas.openxmlformats.org/officeDocument/2006/relationships/slide" Target="/ppt/slides/slide9.xml" Id="Rcbec287cdea84be2" /><Relationship Type="http://schemas.openxmlformats.org/officeDocument/2006/relationships/slide" Target="/ppt/slides/slide10.xml" Id="R21930fece4b64fb9" /><Relationship Type="http://schemas.openxmlformats.org/officeDocument/2006/relationships/slide" Target="/ppt/slides/slide11.xml" Id="Rfeb12d3316cf4e12" /><Relationship Type="http://schemas.openxmlformats.org/officeDocument/2006/relationships/slide" Target="/ppt/slides/slide12.xml" Id="Rec459bc49e8147b9" /><Relationship Type="http://schemas.openxmlformats.org/officeDocument/2006/relationships/slide" Target="/ppt/slides/slide13.xml" Id="R714cfda2d89b42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79b8324c754b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1d370cf72b4415" /><Relationship Type="http://schemas.openxmlformats.org/officeDocument/2006/relationships/notesMaster" Target="/ppt/notesMasters/notesMaster1.xml" Id="Rda28fde1c12a44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c9a22dbbfe45b5" /><Relationship Type="http://schemas.openxmlformats.org/officeDocument/2006/relationships/notesMaster" Target="/ppt/notesMasters/notesMaster1.xml" Id="R7cace4f2035440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6e51227d9546a7" /><Relationship Type="http://schemas.openxmlformats.org/officeDocument/2006/relationships/notesMaster" Target="/ppt/notesMasters/notesMaster1.xml" Id="Rac8e0dd893c941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63dea7b61848cf" /><Relationship Type="http://schemas.openxmlformats.org/officeDocument/2006/relationships/notesMaster" Target="/ppt/notesMasters/notesMaster1.xml" Id="R3f7dfbcede8d46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8e14a2ee7c4537" /><Relationship Type="http://schemas.openxmlformats.org/officeDocument/2006/relationships/notesMaster" Target="/ppt/notesMasters/notesMaster1.xml" Id="R2f68604f461945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6906fc0e2e4c0f" /><Relationship Type="http://schemas.openxmlformats.org/officeDocument/2006/relationships/notesMaster" Target="/ppt/notesMasters/notesMaster1.xml" Id="R0ae0bafd8bef4a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5f5be6b8b24048" /><Relationship Type="http://schemas.openxmlformats.org/officeDocument/2006/relationships/notesMaster" Target="/ppt/notesMasters/notesMaster1.xml" Id="R32bdf21d487540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943077e3064136" /><Relationship Type="http://schemas.openxmlformats.org/officeDocument/2006/relationships/notesMaster" Target="/ppt/notesMasters/notesMaster1.xml" Id="R7a4d2551e53745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88cfae686f4192" /><Relationship Type="http://schemas.openxmlformats.org/officeDocument/2006/relationships/notesMaster" Target="/ppt/notesMasters/notesMaster1.xml" Id="R3b2d025d3b464a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ec8225ef564876" /><Relationship Type="http://schemas.openxmlformats.org/officeDocument/2006/relationships/notesMaster" Target="/ppt/notesMasters/notesMaster1.xml" Id="Re37d2313a6664a0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c2ad62a4ab49ae" /><Relationship Type="http://schemas.openxmlformats.org/officeDocument/2006/relationships/notesMaster" Target="/ppt/notesMasters/notesMaster1.xml" Id="R698f4b04fac94e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0880d88c8e4ef0" /><Relationship Type="http://schemas.openxmlformats.org/officeDocument/2006/relationships/notesMaster" Target="/ppt/notesMasters/notesMaster1.xml" Id="R633b756cb38843c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fd36871619949f1" /><Relationship Type="http://schemas.openxmlformats.org/officeDocument/2006/relationships/notesMaster" Target="/ppt/notesMasters/notesMaster1.xml" Id="Ra4fb7203adc448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production results (Supabase), checked 2026-08-30.</a:t>
            </a:r>
          </a:p>
          <a:p xmlns:a="http://schemas.openxmlformats.org/drawingml/2006/main">
            <a:r>
              <a:t>- Repository UI screenshot: manual/13-exceptions.png.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production results: 305 core files, 47,741 STM/PM, 51,601 BO, 21,810 matched; checked 2026-08-30.</a:t>
            </a:r>
          </a:p>
          <a:p xmlns:a="http://schemas.openxmlformats.org/drawingml/2006/main">
            <a:r>
              <a:t>- README.md role and deletion controls.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n8n workflow and repository architecture.</a:t>
            </a:r>
          </a:p>
          <a:p xmlns:a="http://schemas.openxmlformats.org/drawingml/2006/main">
            <a:r>
              <a:t>- Supabase schema and RLS migrations in repository.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UI screenshot: manual/09-dashboard.png (layout illustration).</a:t>
            </a:r>
          </a:p>
          <a:p xmlns:a="http://schemas.openxmlformats.org/drawingml/2006/main">
            <a:r>
              <a:t>- Validated production metrics are reported separately on slides 2, 5–7.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Supabase production data: daily_recon_jobs, recon_runs, source_files; checked 2026-08-30.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Supabase production data for 9 companies, 2026-08-27 through 2026-08-29.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Company-level results summarized from production data, checked 2026-08-30.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QA-REPORT-2026-08-29.md and test-report screenshots.</a:t>
            </a:r>
          </a:p>
          <a:p xmlns:a="http://schemas.openxmlformats.org/drawingml/2006/main">
            <a:r>
              <a:t>- Current repository fixes and automated tests reviewed 2026-08-30.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UI screenshot: manual/13-exceptions.png (layout illustration).</a:t>
            </a:r>
          </a:p>
          <a:p xmlns:a="http://schemas.openxmlformats.org/drawingml/2006/main">
            <a:r>
              <a:t>- README.md operational workflow.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file correction and replacement workflow.</a:t>
            </a:r>
          </a:p>
          <a:p xmlns:a="http://schemas.openxmlformats.org/drawingml/2006/main">
            <a:r>
              <a:t>- Application file-type definitions in data.js/app.js.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UI screenshot: manual/14-drawer.png (case workflow illustration).</a:t>
            </a:r>
          </a:p>
          <a:p xmlns:a="http://schemas.openxmlformats.org/drawingml/2006/main">
            <a:r>
              <a:t>- Reconciliation rules and exception workflow in README.md.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role matrix and user invitation flow.</a:t>
            </a:r>
          </a:p>
          <a:p xmlns:a="http://schemas.openxmlformats.org/drawingml/2006/main">
            <a:r>
              <a:t>- Supabase RLS migration for role/company access.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Management recommendations based on validated 3-day results and QA findings.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b54d17caaa4c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4f5707f99c4733" /><Relationship Type="http://schemas.openxmlformats.org/officeDocument/2006/relationships/slideLayout" Target="/ppt/slideLayouts/slideLayout1.xml" Id="R9e02dce7d87647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02dce7d87647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19b8b1f1448ea" /><Relationship Type="http://schemas.openxmlformats.org/officeDocument/2006/relationships/image" Target="/ppt/media/image.png" Id="Re6526ff0e3bb430e" /><Relationship Type="http://schemas.openxmlformats.org/officeDocument/2006/relationships/notesSlide" Target="/ppt/notesSlides/notesSlide1.xml" Id="Rf1de1d71a2cf4d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36b53d11041ff" /><Relationship Type="http://schemas.openxmlformats.org/officeDocument/2006/relationships/notesSlide" Target="/ppt/notesSlides/notesSlide2.xml" Id="R60144f9fde5742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5d704a8c843f3" /><Relationship Type="http://schemas.openxmlformats.org/officeDocument/2006/relationships/notesSlide" Target="/ppt/notesSlides/notesSlide3.xml" Id="R0c855c5b130648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3bfd67ebd4f54" /><Relationship Type="http://schemas.openxmlformats.org/officeDocument/2006/relationships/image" Target="/ppt/media/image2.png" Id="R33a2fbcfb55a406f" /><Relationship Type="http://schemas.openxmlformats.org/officeDocument/2006/relationships/notesSlide" Target="/ppt/notesSlides/notesSlide4.xml" Id="R8d96b34aadef4f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6d4a104c949b9" /><Relationship Type="http://schemas.openxmlformats.org/officeDocument/2006/relationships/notesSlide" Target="/ppt/notesSlides/notesSlide5.xml" Id="Re6ffc558fb204f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8e3d7c5944c77" /><Relationship Type="http://schemas.openxmlformats.org/officeDocument/2006/relationships/notesSlide" Target="/ppt/notesSlides/notesSlide6.xml" Id="R1e2be69d9bfb40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adb2b969a46fa" /><Relationship Type="http://schemas.openxmlformats.org/officeDocument/2006/relationships/notesSlide" Target="/ppt/notesSlides/notesSlide7.xml" Id="R1563f320fdaf44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573977d374646" /><Relationship Type="http://schemas.openxmlformats.org/officeDocument/2006/relationships/notesSlide" Target="/ppt/notesSlides/notesSlide8.xml" Id="Rfebe3c52f9b846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2b6866d89422f" /><Relationship Type="http://schemas.openxmlformats.org/officeDocument/2006/relationships/image" Target="/ppt/media/image3.png" Id="R6dd2918ef6f542c3" /><Relationship Type="http://schemas.openxmlformats.org/officeDocument/2006/relationships/notesSlide" Target="/ppt/notesSlides/notesSlide9.xml" Id="Rc06954545d044f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667b0b02a46c4" /><Relationship Type="http://schemas.openxmlformats.org/officeDocument/2006/relationships/notesSlide" Target="/ppt/notesSlides/notesSlide10.xml" Id="Rfe256c5997c548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b05e6bfa5406e" /><Relationship Type="http://schemas.openxmlformats.org/officeDocument/2006/relationships/image" Target="/ppt/media/image4.png" Id="R1fae75602e4d46c7" /><Relationship Type="http://schemas.openxmlformats.org/officeDocument/2006/relationships/notesSlide" Target="/ppt/notesSlides/notesSlide11.xml" Id="Rfc57a6b7a03f48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8e6edc9b34ef5" /><Relationship Type="http://schemas.openxmlformats.org/officeDocument/2006/relationships/notesSlide" Target="/ppt/notesSlides/notesSlide12.xml" Id="R0ade19fdbf5542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9f2f0c8604346" /><Relationship Type="http://schemas.openxmlformats.org/officeDocument/2006/relationships/notesSlide" Target="/ppt/notesSlides/notesSlide13.xml" Id="R030a668772b546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1DA747-D213-4B7C-8D3F-40E29B25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8D1"/>
          </a:solidFill>
          <a:ln xmlns:a="http://schemas.openxmlformats.org/drawingml/2006/main" w="0">
            <a:solidFill>
              <a:srgbClr val="0868D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E45A5-2D78-46B4-884A-C504F54C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3C0FF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83C0FF"/>
                </a:solidFill>
                <a:latin typeface="Kanit"/>
                <a:ea typeface="Kanit"/>
                <a:cs typeface="Kanit"/>
              </a:rPr>
              <a:t>AUDIT AI · RECONCILIATION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009AE-38D0-4CA9-A542-08914B3C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5619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34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ระบบตรวจสอบและ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34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กระทบยอดอัตโนมัติ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E373D-9A6A-4A57-B5CC-4838BF9F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533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7DBEE"/>
                </a:solidFill>
                <a:latin typeface="Kanit"/>
                <a:ea typeface="Kanit"/>
                <a:cs typeface="Kanit"/>
              </a:defRPr>
            </a:pPr>
            <a:r>
              <a:rPr sz="1575" b="0">
                <a:solidFill>
                  <a:srgbClr val="C7DBEE"/>
                </a:solidFill>
                <a:latin typeface="Kanit"/>
                <a:ea typeface="Kanit"/>
                <a:cs typeface="Kanit"/>
              </a:rPr>
              <a:t>ภาพรวมผู้บริหาร • ผลจริง 27–29 สิงหาคม 2026</a:t>
            </a:r>
          </a:p>
          <a:p xmlns:a="http://schemas.openxmlformats.org/drawingml/2006/main">
            <a:pPr algn="l">
              <a:defRPr sz="1575" b="0">
                <a:solidFill>
                  <a:srgbClr val="C7DBEE"/>
                </a:solidFill>
                <a:latin typeface="Kanit"/>
                <a:ea typeface="Kanit"/>
                <a:cs typeface="Kanit"/>
              </a:defRPr>
            </a:pPr>
            <a:r>
              <a:rPr sz="1575" b="0">
                <a:solidFill>
                  <a:srgbClr val="C7DBEE"/>
                </a:solidFill>
                <a:latin typeface="Kanit"/>
                <a:ea typeface="Kanit"/>
                <a:cs typeface="Kanit"/>
              </a:rPr>
              <a:t>ปัญหาที่พบ • วิธีใช้งาน • การควบคุมสิทธิ์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FB91C-53F6-41F7-8ADF-830EABE6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5286375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23A60"/>
          </a:solidFill>
          <a:ln xmlns:a="http://schemas.openxmlformats.org/drawingml/2006/main" w="9525">
            <a:solidFill>
              <a:srgbClr val="2A577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AD8E1-DF64-4D91-886B-F62695DC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863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3C0FF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83C0FF"/>
                </a:solidFill>
                <a:latin typeface="Kanit"/>
                <a:ea typeface="Kanit"/>
                <a:cs typeface="Kanit"/>
              </a:rPr>
              <a:t>ข้อสรุป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13D7D-C892-498A-9837-9CF6239F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435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ระบบทำงานครบวงจรแล้ว แต่ต้องแยก “ไฟล์ครบ” ออกจาก “จับคู่ครบ” และติดตามคุณภาพข้อมูลรายบริษัท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526ff0e3bb430e"/>
          <a:srcRect xmlns:a="http://schemas.openxmlformats.org/drawingml/2006/main" l="18183" t="0" r="181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666750"/>
            <a:ext cx="5095875" cy="5429250"/>
          </a:xfrm>
          <a:prstGeom xmlns:a="http://schemas.openxmlformats.org/drawingml/2006/main" prst="roundRect">
            <a:avLst>
              <a:gd name="adj" fmla="val 2243"/>
            </a:avLst>
          </a:prstGeom>
        </p:spPr>
      </p:pic>
    </p:spTree>
    <p:extLst>
      <p:ext uri="{BB962C8B-B14F-4D97-AF65-F5344CB8AC3E}">
        <p14:creationId xmlns:p14="http://schemas.microsoft.com/office/powerpoint/2010/main" val="7548508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65BCD1-D2BB-41F3-8B6D-AC169D86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A1F50-2E50-4B8D-A4F9-F49A7839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19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240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Executive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6CBBF-59C5-43F9-AD44-7A95B926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953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ระบบอ่านไฟล์และรันครบ 27 งาน แต่ผลจับคู่ยังต่างกันมากในแต่ละบริษัท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068AE-934B-435E-8F06-DFE6CFE9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627D98"/>
                </a:solidFill>
                <a:latin typeface="Kanit"/>
                <a:ea typeface="Kanit"/>
                <a:cs typeface="Kanit"/>
              </a:rPr>
              <a:t>02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533400" y="16192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6F5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813A0-DB3C-4ABA-A9E2-D6F83F7A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204787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0D652-775A-40BE-8E24-90E0B5CC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A52"/>
          </a:solidFill>
          <a:ln xmlns:a="http://schemas.openxmlformats.org/drawingml/2006/main" w="0">
            <a:solidFill>
              <a:srgbClr val="118A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2046B-E615-4589-9743-64280EFE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724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ไฟล์หลักอ่านสำเร็จ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3F009C-0E42-4893-9952-F1EC90E2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52675"/>
            <a:ext cx="172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210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305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3C1EC5-3BF2-4D66-95F4-DA4CAE96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724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ไม่รวมไฟล์ชี้แจง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60C18-505E-4BEB-9F35-C9C8C8D1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952625"/>
            <a:ext cx="204787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D9240A-03EC-47B0-9685-2083CACE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952625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8D1"/>
          </a:solidFill>
          <a:ln xmlns:a="http://schemas.openxmlformats.org/drawingml/2006/main" w="0">
            <a:solidFill>
              <a:srgbClr val="0868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665299-3C66-4006-AC8B-36F2ADDD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095500"/>
            <a:ext cx="1724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STM / PM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A46B2C-6672-4A9F-92C9-E0F5FB98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52675"/>
            <a:ext cx="172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210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47,741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EA553E-A4A1-4467-8BCF-9FEF4884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781300"/>
            <a:ext cx="1724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รายการฝาก–ถอน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BF11A5-AC74-4C86-BBCD-BC32107E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952625"/>
            <a:ext cx="204787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2B309F-86CD-40F1-910E-B373B3F7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952625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8D1"/>
          </a:solidFill>
          <a:ln xmlns:a="http://schemas.openxmlformats.org/drawingml/2006/main" w="0">
            <a:solidFill>
              <a:srgbClr val="0868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2FEFA8-8038-4815-959E-830168B1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95500"/>
            <a:ext cx="1724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BO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C38927-9CCC-423C-97D0-39BF4D92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52675"/>
            <a:ext cx="172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210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51,601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EB38CA-F5E0-4B4E-9746-40ECF981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81300"/>
            <a:ext cx="1724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รายการหลังบ้าน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D4069B-71A4-4BF0-BA70-DE76F6B6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952625"/>
            <a:ext cx="204787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B20173-9814-4F83-80E1-DC9E1FB0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952625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A52"/>
          </a:solidFill>
          <a:ln xmlns:a="http://schemas.openxmlformats.org/drawingml/2006/main" w="0">
            <a:solidFill>
              <a:srgbClr val="118A5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077BAC-D163-48AD-88A2-1C23D795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095500"/>
            <a:ext cx="1724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จับคู่สำเร็จ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4B0456-3688-4F80-9BD7-76D8EC27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352675"/>
            <a:ext cx="172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210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21,810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11FBAE-BC34-48FF-B0CB-07C559DD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81300"/>
            <a:ext cx="1724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45.68% ของ STM/PM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DFEDBC-4020-4305-B1E6-987E7BD2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52625"/>
            <a:ext cx="204787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6FE4F0-02EC-4313-B976-E7B6776D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52625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A52"/>
          </a:solidFill>
          <a:ln xmlns:a="http://schemas.openxmlformats.org/drawingml/2006/main" w="0">
            <a:solidFill>
              <a:srgbClr val="118A5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F91702-105A-4D9E-9645-62166EE9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95500"/>
            <a:ext cx="1724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ขอบเขต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08BD71-DFC7-43B2-A728-19949A9C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52675"/>
            <a:ext cx="1724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210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9 × 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37E1E1-324E-47FC-A223-B5CCE33A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81300"/>
            <a:ext cx="1724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9 บริษัท × 3 วัน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486843-0E53-4AAA-A086-36F36042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108394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B3019B-EB9E-4A65-8C5B-D2AA3969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65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สาระที่ผู้บริหารควรรู้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F1F315-778B-44FC-9BAC-610B49FB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7175"/>
            <a:ext cx="304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85BF32-8603-4ABC-8BE6-02FA4991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D0E5ED-19D3-4E9E-8A72-7B3E7087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20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สถานะ completed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76D129-AE96-4FEE-B191-B62A7F77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767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หมายถึงอ่านไฟล์และคำนวณจบ ไม่ได้หมายถึงจับคู่ครบทุกธุรกรรม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6D15DE-55E0-4F92-ABCD-D4216130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62475"/>
            <a:ext cx="304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B3D6FC-79D5-47BB-A481-BD2DBC7A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43636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C43636"/>
                </a:solidFill>
                <a:latin typeface="Kanit"/>
                <a:ea typeface="Kanit"/>
                <a:cs typeface="Kanit"/>
              </a:rPr>
              <a:t>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85525B-B4C6-452F-8EC0-E6F333D8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720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20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จุดเสี่ยงหลัก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6AA673-322B-4086-86D0-77CB83CC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720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SK8 และ FR8 จับคู่ต่ำต่อเนื่อง ควรตรวจ mapping / เวลา / Provider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9638B1-871C-4292-B91B-29A4AB82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57775"/>
            <a:ext cx="304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747FFB-B7F6-4934-862B-87AC21AE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8A52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118A52"/>
                </a:solidFill>
                <a:latin typeface="Kanit"/>
                <a:ea typeface="Kanit"/>
                <a:cs typeface="Kanit"/>
              </a:rPr>
              <a:t>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BEF689-62A8-401E-B16B-5DDC8D28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673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20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การควบคุม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48A469-C59D-46A6-B4CC-6FF1CAD7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67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มีหลักฐานย้อนกลับ สิทธิ์ตามบทบาท และไม่มีบทบาทใดลบรายการ/หลักฐานถาวรได้</a:t>
            </a:r>
          </a:p>
        </p:txBody>
      </p:sp>
    </p:spTree>
    <p:extLst>
      <p:ext uri="{BB962C8B-B14F-4D97-AF65-F5344CB8AC3E}">
        <p14:creationId xmlns:p14="http://schemas.microsoft.com/office/powerpoint/2010/main" val="4848988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B4D6D76-F814-4916-B642-A0CC418B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END-TO-END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15F23-ACB8-4664-AB3F-E1DAD089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19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240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ระบบทำงานอย่างไร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7B8FF-6608-4EFE-B4DB-81611178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953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จากอีเมลจริงไปสู่รายงานผู้บริหาร พร้อมหลักฐานและร่องรอยการอนุมัติ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F8A1D7-AB2E-4BB4-8E6A-D85F9FA1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627D98"/>
                </a:solidFill>
                <a:latin typeface="Kanit"/>
                <a:ea typeface="Kanit"/>
                <a:cs typeface="Kanit"/>
              </a:rPr>
              <a:t>03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533400" y="16192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6F5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5D512-C73E-429B-AA9A-A0BCFC26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1428750" cy="1714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1F8AFE-DA34-4B80-8514-1B79FA8D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C7F32-8579-428C-86B4-ADADAB57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717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3C75C5-D06D-4742-8B1E-70A23C65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Gmail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54DD6-B327-4767-916A-4D436DB3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112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รับเมลและไฟล์แนบ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329FA-6D59-40C7-A94C-DF3B6C3D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479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F04EE8-5136-4594-9827-313B5B62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171700"/>
            <a:ext cx="1428750" cy="1714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2B5BC8-10DA-44ED-910F-D13F4286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431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AFDDE6-B772-44A8-A361-8FDCC91B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717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E8C1D3-2158-4DCD-8872-2DCE010F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8130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n8n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ACC0FB-5599-4A40-894E-7D4C1F1E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143250"/>
            <a:ext cx="112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จัดคิวและกันซ้ำ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0E185-0BEA-4F36-85CB-D96EBE05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479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3851CB-8368-4C1D-BF52-88926908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71700"/>
            <a:ext cx="1428750" cy="1714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DC62A2-A3E3-4BB6-AF2E-0A774C85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431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574E9F-6C81-468E-A5B6-E269C3F1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717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F719B5-DB3C-4A03-BE99-5D299294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8130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Supabase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40E7A3-7B7F-48EA-8CD4-B70C6781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43250"/>
            <a:ext cx="112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เก็บไฟล์ + metadata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FC685A-9948-4D6F-A7AE-8E10A914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479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1D3777-9AA0-4B3A-8E2B-4B4D28AE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71700"/>
            <a:ext cx="1428750" cy="1714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CC9EB1-89CB-4D87-ACC9-2146643B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431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4620EA-51C2-4DCD-8924-8E05D61D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717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72E771-E2AC-48BE-ADD0-D550F07B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8130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Parser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EE2F4C-5B71-4EBA-84B1-F0A83ED3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43250"/>
            <a:ext cx="112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อ่าน Excel/CSV/PDF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C635A5-A57F-4499-AA95-FA31C004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479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2C30C1-2A16-4D39-B2DA-D47F1DB0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71700"/>
            <a:ext cx="1428750" cy="1714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EC8864-F405-4DD3-881A-32737DC7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431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A7C12D-19F6-436C-BE5D-802011A8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717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04F2FB-E5B3-432D-BF87-1B0CF252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8130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3-Point Match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E818D3-3F21-4D6A-AACA-28A0D8FF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43250"/>
            <a:ext cx="112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เทียบยอด บัญชี เวลา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92C27F-1ED2-4FCC-A3F7-A01969DD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479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56D22A-4F8B-44D7-A084-AEEB5AA2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71700"/>
            <a:ext cx="1428750" cy="1714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94C2F3-A0B4-4CB0-AD2C-6C916191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431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6C20BA-DA8B-4350-82A6-8AD9D2B9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717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C4FC71-BC62-475D-9425-465DDAFE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9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Case Workflow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9EB846-96AE-4667-8D0D-3F07BE7D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43250"/>
            <a:ext cx="112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ชี้แจง/หลักฐาน/อนุมัติ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E84290-97C2-4FDA-A532-5BF8C67E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479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D4F179-625A-42C9-8BD2-E2407E9B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71700"/>
            <a:ext cx="1428750" cy="1714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C10097-CC10-48F7-B47E-206FE85C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43150"/>
            <a:ext cx="323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3C85B4-553B-4AD8-A46F-3EB3C93A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717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067CA8-6A4C-4DF5-B470-11033CF9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78130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Report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30C98B-FCB3-4BE3-82C9-E14F52FD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143250"/>
            <a:ext cx="112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รายวัน + Export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3EF0FE-5C1F-4E02-AC46-D62DF18A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108394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60AE43-0846-4F90-A442-3517B3FA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425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จุดควบคุมสำคัญ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D9C8DAD-2E0A-490D-9BED-5836F8FA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• กันไฟล์ซ้ำด้วย message/file identity     • Quality gate ก่อนกระทบยอด     • tolerance เวลา/ยอดตั้งค่าได้</a:t>
            </a:r>
          </a:p>
          <a:p xmlns:a="http://schemas.openxmlformats.org/drawingml/2006/main">
            <a:pPr algn="l">
              <a:defRPr sz="120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• ทุกการเปลี่ยนสถานะมี Audit Log     • ไฟล์ต้นฉบับและไฟล์แทนที่เก็บประวัติ</a:t>
            </a:r>
          </a:p>
        </p:txBody>
      </p:sp>
    </p:spTree>
    <p:extLst>
      <p:ext uri="{BB962C8B-B14F-4D97-AF65-F5344CB8AC3E}">
        <p14:creationId xmlns:p14="http://schemas.microsoft.com/office/powerpoint/2010/main" val="4493568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88C6F1-1A7F-4536-BAC6-F909F4FD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MANAGEMENT VISIBILITY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EE6F4A-3F18-4908-88A4-19EFA368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19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240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ผู้บริหารเห็นอะไรในระบบ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78A23-BB3A-4EAF-9AE8-FAA2495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953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มุมมองเดียวติดตามความครบถ้วน คุณภาพการจับคู่ ความเสี่ยง และหลักฐาน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5FDFC-B818-4258-BEA2-CF0C2836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627D98"/>
                </a:solidFill>
                <a:latin typeface="Kanit"/>
                <a:ea typeface="Kanit"/>
                <a:cs typeface="Kanit"/>
              </a:rPr>
              <a:t>04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533400" y="16192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6F5"/>
            </a:solidFill>
            <a:prstDash val="solid"/>
          </a:ln>
        </p:spPr>
      </p:cxn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2fbcfb55a406f"/>
          <a:srcRect xmlns:a="http://schemas.openxmlformats.org/drawingml/2006/main" l="0" t="6373" r="0" b="63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952625"/>
            <a:ext cx="67627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F6DED-91C9-4FF9-B4FE-4472AEB2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52625"/>
            <a:ext cx="3810000" cy="40005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E34F9-5F21-4655-B475-09265C47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575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ข้อมูลที่ใช้ตัดสินใจ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BF2F5-64BF-4014-8758-8E7EA449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289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502A8-8346-408E-8064-62655436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574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B03F5-96B2-4972-BF3E-0303BA18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12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ไฟล์ที่ได้รับ / อ่านสำเร็จ / ต้องแก้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20AF8E-2837-4E44-811F-663351F5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9562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77EAA1-CAC9-46D7-A032-1C4F3E53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242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9A0987-BBE6-4D01-8AA3-490C7AB1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1467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12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จำนวน STM/PM, BO และอัตราจับคู่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29BCC0-9023-4543-8C03-AE6A1E0A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623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6811A1-0AA7-4F60-80A4-4397413E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909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04D3AE-CC1E-48DD-822C-1B037F2F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814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Exception ตามบริษัท ประเภท และ SLA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ED64A0-9105-4D1E-9CC4-42001BDC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290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7DA1DB-FE91-4247-92F0-6F383B63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576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DA88EA-587D-488A-9FDC-5929DEB1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4812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งานรอชี้แจง / รออนุมัติ / ปิดเคส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08E1F3-8C61-4D34-B1EB-9E3BB274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958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78597A-893E-4A64-AB4C-45976F73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243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D0CCF5-F151-4A3A-8114-8EDDA3B0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ทะเบียนความเสียหายและยอดรวม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E09F6C-7FD3-4CA8-881D-A0F5DB44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96252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467544-26FB-46A4-9F64-DD6388F7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9911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B227BB-8B45-475A-ABB5-B2DBD9E7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8157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Export รายวันและ Audit Log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264520-18E7-436E-A997-73734261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816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297BAA-B345-4A20-AD67-C0AD1F08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102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7660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A76600"/>
                </a:solidFill>
                <a:latin typeface="Kanit"/>
                <a:ea typeface="Kanit"/>
                <a:cs typeface="Kanit"/>
              </a:rPr>
              <a:t>ภาพหน้าจอ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889F6B-4BAB-48A6-B962-5AD0E210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6197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ใช้แสดงโครงสร้างหน้าจอ ตัวเลขผลจริงอยู่ในสไลด์ 2, 5–7</a:t>
            </a:r>
          </a:p>
        </p:txBody>
      </p:sp>
    </p:spTree>
    <p:extLst>
      <p:ext uri="{BB962C8B-B14F-4D97-AF65-F5344CB8AC3E}">
        <p14:creationId xmlns:p14="http://schemas.microsoft.com/office/powerpoint/2010/main" val="11334647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1316DF9-F570-4A4F-A426-AB9B4875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VALIDATED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C0BF2-D513-481C-A436-3F7F3263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19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240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ผลจริง 3 วันแรก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FDB02-AE03-491E-969C-6967FABD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953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ปริมาณรายการเพิ่มขึ้น แต่ Match rate อยู่ในช่วง 41.85–48.87%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CD84D9-8D33-415D-AFB1-10285156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627D98"/>
                </a:solidFill>
                <a:latin typeface="Kanit"/>
                <a:ea typeface="Kanit"/>
                <a:cs typeface="Kanit"/>
              </a:rPr>
              <a:t>05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533400" y="16192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6F5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8CE5D-9817-46C9-8136-9970FA36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1057275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19E05-ADDC-436F-B32E-6BB2FCA9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วัน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A48D33-8FD9-4C35-9460-8EE715C6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764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ไฟล์หลัก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1F8707-6032-4B68-A90B-833713B2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764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STM / PM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47C313-979F-4E6E-964A-5CE1E340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764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BO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E3F963-A37F-4E4F-8382-1169EAA8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764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จับคู่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19E573-FFF8-4CCB-B252-B60A2F4F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76450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อัตราจับคู่</a:t>
            </a:r>
          </a:p>
        </p:txBody>
      </p:sp>
      <p:cxnSp>
        <p:nvCxnSpPr>
          <p:cNvPr id="60" name=""/>
          <p:cNvCxnSpPr/>
          <p:nvPr/>
        </p:nvCxnSpPr>
        <p:spPr>
          <a:xfrm xmlns:a="http://schemas.openxmlformats.org/drawingml/2006/main">
            <a:off x="533400" y="2514600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6F5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B23E01-CBCA-49A1-94B8-819BCDDB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27 ส.ค.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1EB976-703B-4C32-8821-74721A12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908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17A925-F8E4-4F90-8A79-01C5F1FA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908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14,967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4B8EDC-BF1D-473B-AA8C-6F404C43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908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15,933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33EC2D-BE12-4A41-AA3D-4BAC233B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908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6,263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011561-31C2-434F-8579-8F39884F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90800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41.85%</a:t>
            </a:r>
          </a:p>
        </p:txBody>
      </p:sp>
      <p:cxnSp>
        <p:nvCxnSpPr>
          <p:cNvPr id="67" name=""/>
          <p:cNvCxnSpPr/>
          <p:nvPr/>
        </p:nvCxnSpPr>
        <p:spPr>
          <a:xfrm xmlns:a="http://schemas.openxmlformats.org/drawingml/2006/main">
            <a:off x="533400" y="3028950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6F5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2A18FD-891F-48D3-A1EB-B32BF492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028950"/>
            <a:ext cx="10553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206E80-66FB-409C-97BB-E067D242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28 ส.ค.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713BCE-0858-461A-B393-9C6FC263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0515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7149BA-D07E-45AA-B710-3E31E0BD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051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16,389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B7C4B1-73EB-4B62-991C-3A18B19A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051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17,345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BD4619-B60B-422A-A3E1-C048AD3F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051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8,009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61E998-CC6E-42F4-A093-20E751A9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05150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48.87%</a:t>
            </a:r>
          </a:p>
        </p:txBody>
      </p:sp>
      <p:cxnSp>
        <p:nvCxnSpPr>
          <p:cNvPr id="75" name=""/>
          <p:cNvCxnSpPr/>
          <p:nvPr/>
        </p:nvCxnSpPr>
        <p:spPr>
          <a:xfrm xmlns:a="http://schemas.openxmlformats.org/drawingml/2006/main">
            <a:off x="533400" y="3543300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6F5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C9AD33-9642-46CD-B716-25AB53C6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29 ส.ค.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474834-31E2-476C-BCF9-EEF2D0B8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195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92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6AE19E-37F4-48AF-83BA-B4799D96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195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16,385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534604-8C4E-4997-85E8-E1525428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195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18,323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107409-8CF9-47A2-8345-A6CFEFAE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195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7,538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2C54F1-2860-477F-B8AE-3E1BB070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19500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46.01%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648696-FDD5-44C9-8972-F4100AAB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425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อัตราจับคู่รายวัน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CED516-D932-481D-98C2-9C8E49BA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7068"/>
            <a:ext cx="1809750" cy="597932"/>
          </a:xfrm>
          <a:prstGeom xmlns:a="http://schemas.openxmlformats.org/drawingml/2006/main" prst="roundRect">
            <a:avLst>
              <a:gd name="adj" fmla="val 12744"/>
            </a:avLst>
          </a:prstGeom>
          <a:solidFill xmlns:a="http://schemas.openxmlformats.org/drawingml/2006/main">
            <a:srgbClr val="A76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95AF4D-D447-4400-B65D-83D089CD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83693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425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41.85%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6DB21C-B2B7-42E5-BEB2-3ED58F7B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627D98"/>
                </a:solidFill>
                <a:latin typeface="Kanit"/>
                <a:ea typeface="Kanit"/>
                <a:cs typeface="Kanit"/>
              </a:rPr>
              <a:t>27 ส.ค.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B8465A-6B02-4AB9-8C74-A75CDDBE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16770"/>
            <a:ext cx="1809750" cy="698230"/>
          </a:xfrm>
          <a:prstGeom xmlns:a="http://schemas.openxmlformats.org/drawingml/2006/main" prst="roundRect">
            <a:avLst>
              <a:gd name="adj" fmla="val 10913"/>
            </a:avLst>
          </a:prstGeom>
          <a:solidFill xmlns:a="http://schemas.openxmlformats.org/drawingml/2006/main">
            <a:srgbClr val="118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A8DA7F-D68D-4C0C-B67F-E52B4D65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8339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425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48.87%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7EF66B-084E-40A2-BCF7-D92E2287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810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627D98"/>
                </a:solidFill>
                <a:latin typeface="Kanit"/>
                <a:ea typeface="Kanit"/>
                <a:cs typeface="Kanit"/>
              </a:rPr>
              <a:t>28 ส.ค.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E8C978-9646-45A1-B42A-658478E9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57632"/>
            <a:ext cx="1809750" cy="657368"/>
          </a:xfrm>
          <a:prstGeom xmlns:a="http://schemas.openxmlformats.org/drawingml/2006/main" prst="roundRect">
            <a:avLst>
              <a:gd name="adj" fmla="val 11592"/>
            </a:avLst>
          </a:prstGeom>
          <a:solidFill xmlns:a="http://schemas.openxmlformats.org/drawingml/2006/main">
            <a:srgbClr val="0868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573428-D1B5-4966-A2FB-B3839450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24257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425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46.01%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1B834F-1068-49A6-AC0B-678EE23D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10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627D98"/>
                </a:solidFill>
                <a:latin typeface="Kanit"/>
                <a:ea typeface="Kanit"/>
                <a:cs typeface="Kanit"/>
              </a:rPr>
              <a:t>29 ส.ค.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107429E-21B3-4F5A-BB95-1D944E19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19575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D12685-891C-4EE7-ACCD-FC5E7154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481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7660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A76600"/>
                </a:solidFill>
                <a:latin typeface="Kanit"/>
                <a:ea typeface="Kanit"/>
                <a:cs typeface="Kanit"/>
              </a:rPr>
              <a:t>หมายเหตุ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E7F25C-4A83-497D-9DC0-708E3DE0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2576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วันที่ 29 มีหลักฐาน 17 ไฟล์ แยกจาก 92 ไฟล์ธุรกรรม</a:t>
            </a:r>
          </a:p>
        </p:txBody>
      </p:sp>
    </p:spTree>
    <p:extLst>
      <p:ext uri="{BB962C8B-B14F-4D97-AF65-F5344CB8AC3E}">
        <p14:creationId xmlns:p14="http://schemas.microsoft.com/office/powerpoint/2010/main" val="7046089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571CD6B-8C46-4CCE-827D-B2DBE543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COMPANY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885F4-C4C5-4F03-8BC1-DF53208B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19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240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ภาพรวมรายบริษัท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D6425-FDFE-4534-B50B-C2EE1C33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953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สถานะไฟล์ครบไม่เท่ากับคุณภาพการจับคู่—จึงต้องอ่านสองมิติพร้อมกัน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52C9C-3004-4F69-8CFB-000A61CC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627D98"/>
                </a:solidFill>
                <a:latin typeface="Kanit"/>
                <a:ea typeface="Kanit"/>
                <a:cs typeface="Kanit"/>
              </a:rPr>
              <a:t>06</a:t>
            </a:r>
          </a:p>
        </p:txBody>
      </p:sp>
      <p:cxnSp>
        <p:nvCxnSpPr>
          <p:cNvPr id="74" name=""/>
          <p:cNvCxnSpPr/>
          <p:nvPr/>
        </p:nvCxnSpPr>
        <p:spPr>
          <a:xfrm xmlns:a="http://schemas.openxmlformats.org/drawingml/2006/main">
            <a:off x="533400" y="16192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6F5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1D93B-1398-4A04-8F50-496EF633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108394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BA74B-26D1-4A43-B5A6-6E36CC80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บริษัท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23E30D-EDF0-41B7-AD81-B0CF30CA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8120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ไฟล์ 27 / 28 / 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37E0EA-C19E-47B4-ADA1-E5FB2FA5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8120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เฉลี่ยจับคู่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D9C6C7-940F-4436-92CA-7097FFBA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8120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สถานะ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E7DEA-9AFD-411C-9A2C-2B32F20E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81200"/>
            <a:ext cx="516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ประเด็นติดตาม</a:t>
            </a:r>
          </a:p>
        </p:txBody>
      </p:sp>
      <p:cxnSp>
        <p:nvCxnSpPr>
          <p:cNvPr id="81" name=""/>
          <p:cNvCxnSpPr/>
          <p:nvPr/>
        </p:nvCxnSpPr>
        <p:spPr>
          <a:xfrm xmlns:a="http://schemas.openxmlformats.org/drawingml/2006/main">
            <a:off x="533400" y="2314575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6F5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F4283C-8F0B-4322-A21B-063CA4A6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3XB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46613E-5E01-486A-ACD0-6DE64781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39077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15 / 13 / 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431410-3D75-49A1-AF8F-76A7A944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90775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50.56%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1BB9AA-0993-4FA0-8115-06AD2A03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9077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ติดตาม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5327BB-81CE-41DD-889C-84B26F8D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90775"/>
            <a:ext cx="516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จำนวนไฟล์วันที่ 29 ลดลง</a:t>
            </a:r>
          </a:p>
        </p:txBody>
      </p:sp>
      <p:cxnSp>
        <p:nvCxnSpPr>
          <p:cNvPr id="87" name=""/>
          <p:cNvCxnSpPr/>
          <p:nvPr/>
        </p:nvCxnSpPr>
        <p:spPr>
          <a:xfrm xmlns:a="http://schemas.openxmlformats.org/drawingml/2006/main">
            <a:off x="533400" y="2724150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6F5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BAF530-DF70-48C8-9C73-B22ED14E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724150"/>
            <a:ext cx="108204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D91247-01FA-4573-96FC-992A2CCB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AT4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94F6FB-04A5-4ED0-A53D-A60C7F88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0035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15 / 13 / 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4E3F15-80D3-48D5-AA79-ECD4DEC1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0035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36.29%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D5F1F4-379F-4C6D-A011-1797BFC3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003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ติดตาม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997231-C8BF-4CCB-80A5-AA116761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00350"/>
            <a:ext cx="516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ยืนยันชุดฝาก/ถอนทุก Provider</a:t>
            </a:r>
          </a:p>
        </p:txBody>
      </p:sp>
      <p:cxnSp>
        <p:nvCxnSpPr>
          <p:cNvPr id="94" name=""/>
          <p:cNvCxnSpPr/>
          <p:nvPr/>
        </p:nvCxnSpPr>
        <p:spPr>
          <a:xfrm xmlns:a="http://schemas.openxmlformats.org/drawingml/2006/main">
            <a:off x="533400" y="3133725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6F5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4E1EC4-7D1D-4421-9B09-D923EC93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FR8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65AB42-DF80-4ED0-9AE9-958565BC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099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14 / 16 / 15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CB6D5A-94A5-4795-A58E-4D06B72C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09925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25.50%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A3A9D2-E431-45B3-B071-3ED0B061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099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เร่งตรวจ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743B1A-EA07-4990-A1A5-1569F992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09925"/>
            <a:ext cx="516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ไฟล์ครบ แต่จับคู่ต่ำต่อเนื่อง</a:t>
            </a:r>
          </a:p>
        </p:txBody>
      </p:sp>
      <p:cxnSp>
        <p:nvCxnSpPr>
          <p:cNvPr id="100" name=""/>
          <p:cNvCxnSpPr/>
          <p:nvPr/>
        </p:nvCxnSpPr>
        <p:spPr>
          <a:xfrm xmlns:a="http://schemas.openxmlformats.org/drawingml/2006/main">
            <a:off x="533400" y="3543300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6F5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BEC1C3-609D-471F-88A1-32D80907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543300"/>
            <a:ext cx="108204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1DC65A-2B24-47E1-B081-983857DD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MC8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21B549-B5E9-4BBC-8408-627236AA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1950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8 / 10 / 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7D5C9A-A5B6-4406-9A16-EC6648B9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1950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49.62%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D1AB4C-2451-449B-A016-5AFE65DD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1950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ติดตาม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37D548-ABD3-4CA4-B24F-9F9811D9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19500"/>
            <a:ext cx="516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วันที่ 29 ลดเหลือ 38.04%</a:t>
            </a:r>
          </a:p>
        </p:txBody>
      </p:sp>
      <p:cxnSp>
        <p:nvCxnSpPr>
          <p:cNvPr id="107" name=""/>
          <p:cNvCxnSpPr/>
          <p:nvPr/>
        </p:nvCxnSpPr>
        <p:spPr>
          <a:xfrm xmlns:a="http://schemas.openxmlformats.org/drawingml/2006/main">
            <a:off x="533400" y="3952875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6F5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179966-F724-4FBC-B6A7-7DC33597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MR9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62E1EF-6F3D-48EB-AF62-238717D6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2907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11 / 10 / 10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7461A0-C193-46F8-82BF-BA77188D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29075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51.36%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AD88D6-AF11-4660-B381-8B102687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2907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ติดตาม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D5909B-7B7D-42CE-8D20-888DF369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29075"/>
            <a:ext cx="516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ผูกหลักฐานกับเคสที่ไม่พบคู่</a:t>
            </a:r>
          </a:p>
        </p:txBody>
      </p:sp>
      <p:cxnSp>
        <p:nvCxnSpPr>
          <p:cNvPr id="113" name=""/>
          <p:cNvCxnSpPr/>
          <p:nvPr/>
        </p:nvCxnSpPr>
        <p:spPr>
          <a:xfrm xmlns:a="http://schemas.openxmlformats.org/drawingml/2006/main">
            <a:off x="533400" y="4362450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6F5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433D5F3-E5C4-4560-A201-87B80FE2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62450"/>
            <a:ext cx="108204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6882C25-827D-445A-81B8-9E516FA0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PS8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2B99FC-A5C0-4573-B933-A15D5077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3865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11 / 11 / 11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08F9E43-3FBB-4E65-B3D7-B66BDDD0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3865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65.92%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8779C1-322D-431D-A430-D36B5E8D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386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ปกติ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D74EFC-3875-41BF-A79B-2D625E4F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38650"/>
            <a:ext cx="516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ใช้เป็น baseline</a:t>
            </a:r>
          </a:p>
        </p:txBody>
      </p:sp>
      <p:cxnSp>
        <p:nvCxnSpPr>
          <p:cNvPr id="120" name=""/>
          <p:cNvCxnSpPr/>
          <p:nvPr/>
        </p:nvCxnSpPr>
        <p:spPr>
          <a:xfrm xmlns:a="http://schemas.openxmlformats.org/drawingml/2006/main">
            <a:off x="533400" y="4772025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6F5"/>
            </a:solidFill>
            <a:prstDash val="solid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24E017-9474-4DA8-8802-A5BBE99E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SK8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F481A3F-99F3-4BC0-8891-26B47455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482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18 / 12 / 10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CA7A113-6D84-4277-99C7-707FACEA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848225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9.71%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F3D1261-F544-4802-BEB4-E84FEB89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8482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เร่งตรวจ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55DB7C8-9724-4650-B5A0-D4B1D054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48225"/>
            <a:ext cx="516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ตรวจ mapping/rule ก่อนสรุป</a:t>
            </a:r>
          </a:p>
        </p:txBody>
      </p:sp>
      <p:cxnSp>
        <p:nvCxnSpPr>
          <p:cNvPr id="126" name=""/>
          <p:cNvCxnSpPr/>
          <p:nvPr/>
        </p:nvCxnSpPr>
        <p:spPr>
          <a:xfrm xmlns:a="http://schemas.openxmlformats.org/drawingml/2006/main">
            <a:off x="533400" y="5181600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6F5"/>
            </a:solidFill>
            <a:prstDash val="solid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B672D5B-26E2-4364-A942-63A7DB18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181600"/>
            <a:ext cx="108204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202AB9C-45A3-473C-BBD6-BC00185E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UFABET7M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A37FA14-2485-4758-BCCB-78897F6E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5780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7 / 7 / 7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5828365-C699-4E7B-A73A-68738017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5780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76.91%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6652FCD-FD69-406E-BE49-3D573A13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25780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ติดตาม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AE4C6C2-AA33-4527-A5BC-7390FDA8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257800"/>
            <a:ext cx="516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ไฟล์คงที่ แต่อัตราจับคู่ลด</a:t>
            </a:r>
          </a:p>
        </p:txBody>
      </p:sp>
      <p:cxnSp>
        <p:nvCxnSpPr>
          <p:cNvPr id="133" name=""/>
          <p:cNvCxnSpPr/>
          <p:nvPr/>
        </p:nvCxnSpPr>
        <p:spPr>
          <a:xfrm xmlns:a="http://schemas.openxmlformats.org/drawingml/2006/main">
            <a:off x="533400" y="5591175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6F5"/>
            </a:solidFill>
            <a:prstDash val="solid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345613C-0D2F-4959-9DA7-582394E5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UR9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DBF66B0-9158-4947-AF74-7B879078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66737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11 / 11 / 11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2BB10A4-DFE9-4386-B62C-9F8E2B04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667375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46.53%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5365D00-8EF8-4BB5-A9F9-3C751958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66737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ปกติ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0E8DE6E-D4A9-4670-A3A6-F13C26BF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667375"/>
            <a:ext cx="516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ไฟล์คงที่ แนวโน้มดีขึ้น</a:t>
            </a:r>
          </a:p>
        </p:txBody>
      </p:sp>
    </p:spTree>
    <p:extLst>
      <p:ext uri="{BB962C8B-B14F-4D97-AF65-F5344CB8AC3E}">
        <p14:creationId xmlns:p14="http://schemas.microsoft.com/office/powerpoint/2010/main" val="11025262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9C43DE-E37B-4D39-AF7A-A928FEA9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RISK FOCUS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42FD9A-8134-4879-A2EC-932CC122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19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240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จุดที่ต้องเร่งติดตาม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92E83-F379-49EC-9269-F274A8B1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953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จัดลำดับจากความเสี่ยงของข้อมูล ไม่ใช่จากจำนวนไฟล์เพียงอย่างเดียว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5EC48-744C-41ED-9298-034035C6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627D98"/>
                </a:solidFill>
                <a:latin typeface="Kanit"/>
                <a:ea typeface="Kanit"/>
                <a:cs typeface="Kanit"/>
              </a:rPr>
              <a:t>07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533400" y="16192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6F5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97047-8378-4058-A87C-65235050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50958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58BBA0-EC12-418C-921B-6F805730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05025"/>
            <a:ext cx="361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0E258-BE4F-4BA5-8728-DA0A4D64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43636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C43636"/>
                </a:solidFill>
                <a:latin typeface="Kanit"/>
                <a:ea typeface="Kanit"/>
                <a:cs typeface="Kanit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73397-59FF-4927-95B8-B20C8CD7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425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SK8 · เร่งตรวจ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A10BCD-3802-4DA7-8C85-217E67E5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05075"/>
            <a:ext cx="471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เฉลี่ยจับคู่ 9.71% — ตรวจ rule, mapping, ประเภทข้อมูลและทิศทาง D/W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E7C36-E6C0-477A-9E33-3E5806AB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952625"/>
            <a:ext cx="50958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79CD7-C94B-4A28-A946-596AC2C2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105025"/>
            <a:ext cx="361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F26FC-B2B8-4E38-8701-C3F1CD9B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1336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43636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C43636"/>
                </a:solidFill>
                <a:latin typeface="Kanit"/>
                <a:ea typeface="Kanit"/>
                <a:cs typeface="Kanit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515F8-A9F9-47A8-A6DF-AAC086D5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114550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425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FR8 · เร่งตรวจ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37F7CE-3B7B-43D9-BF4D-9ECFCB8F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505075"/>
            <a:ext cx="471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เฉลี่ยจับคู่ 25.50% — ไฟล์ครบแต่จับคู่ต่ำ ต้องตรวจเวลาและ Provider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8BB183-6949-40EC-9EB4-90642147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50958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937EF7-CA4E-44B6-8670-1E6D757B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33775"/>
            <a:ext cx="361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9AC9F7-0940-44EC-BCFB-24D11F00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7660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A76600"/>
                </a:solidFill>
                <a:latin typeface="Kanit"/>
                <a:ea typeface="Kanit"/>
                <a:cs typeface="Kanit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EB5572-DB3D-4E7B-AB9E-9EA2E384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43300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425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MC8 · ติดตาม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6888E6-29FC-4AB9-8BF9-3DCCEC58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33825"/>
            <a:ext cx="471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วันที่ 29 ลดเหลือ 38.04% และเคยพบรูปแบบเวลา NaN/undefined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C05621-8A9A-4C67-B7C9-020125B9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381375"/>
            <a:ext cx="50958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4F803F-6012-4A56-BE53-CFD3679B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533775"/>
            <a:ext cx="361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F24120-03BA-4B21-97E0-6E5756B4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5623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7660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A76600"/>
                </a:solidFill>
                <a:latin typeface="Kanit"/>
                <a:ea typeface="Kanit"/>
                <a:cs typeface="Kanit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A8F6FF-46D8-40E8-9E52-4D01619D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543300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425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UFABET7M · ติดตาม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911D72-F7AA-4ED5-89A1-F7D8087B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933825"/>
            <a:ext cx="471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จำนวนไฟล์คงที่ แต่อัตราจับคู่ลด 87.73% → 61.34%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2E9CB4-2FD6-4D2E-B828-D9D7ACBB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72050"/>
            <a:ext cx="108394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218090-411E-4DF0-B128-54F0A36C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หลักตัดสินใจ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F38AFB-39E5-4FA2-B6C6-A54761A8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62550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ถ้าไฟล์ครบแต่ Match rate ต่ำ → ตรวจ rule/mapping  |  ถ้าไฟล์ลดลง → เช็ค Gmail/Supabase  |  ถ้ามีหลักฐาน → ผูกกับเคสก่อนปิด</a:t>
            </a:r>
          </a:p>
        </p:txBody>
      </p:sp>
    </p:spTree>
    <p:extLst>
      <p:ext uri="{BB962C8B-B14F-4D97-AF65-F5344CB8AC3E}">
        <p14:creationId xmlns:p14="http://schemas.microsoft.com/office/powerpoint/2010/main" val="12087514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85B8E2-7B71-42B9-9991-E5C0BE52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ISSUES &amp;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35F83-9870-487A-9D55-1D623ED1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19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240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ปัญหาที่พบและการควบคุม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F36C8-81C3-42EE-B1B1-E5F7EE44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953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แยกเหตุการณ์ในช่วงทดสอบออกจากความเสี่ยงที่ต้องเฝ้าระวังต่อเนื่อง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CC65F-1D07-4237-AD61-E6358252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627D98"/>
                </a:solidFill>
                <a:latin typeface="Kanit"/>
                <a:ea typeface="Kanit"/>
                <a:cs typeface="Kanit"/>
              </a:rPr>
              <a:t>08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533400" y="16192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6F5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A3458-894E-47F3-AB11-00F2C821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1083945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5F412C-C73C-4E1F-A603-40E503AF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2181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ปัญหาที่พบ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19DFD-AE98-4C23-A897-5B937FD3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028825"/>
            <a:ext cx="2181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ผลกระทบ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AE38D-54CD-4463-8736-573D8A51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28825"/>
            <a:ext cx="4371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สิ่งที่ทำ/ควบคุมแล้ว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F62FB-D3B5-4450-BC8A-FF8424F1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028825"/>
            <a:ext cx="1495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สถานะ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533400" y="2543175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6F5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2F1BFD-154B-4BD9-BC4F-EDECE3BA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2181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n8n quota เต็ม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0DEAA2-81D3-49A1-B069-94BF0E77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19375"/>
            <a:ext cx="2181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Gmail/Worker หยุด และ Telegram เงียบ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B62BE4-109F-4A58-89B1-EC0BC7D4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19375"/>
            <a:ext cx="4371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ลดรอบซ้ำ รวมแจ้งเตือนในรอบเดียว เฝ้าดู usage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163791-B5FF-4C0E-87FE-6721916A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619375"/>
            <a:ext cx="1495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เฝ้าระวัง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533400" y="3133725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6F5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1B4B73-BC15-4042-AE9D-AE5014D5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133725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84E0B6-AAC0-4673-8F5D-343C5EE6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2181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โหลดส่วนกลาง timeout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DFAB1B-326C-4537-B969-D68FEF81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209925"/>
            <a:ext cx="2181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หน้าเคยแสดง 0 ทั้งที่มีข้อมูล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638952-8B44-408B-B5D6-3C0283AC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09925"/>
            <a:ext cx="4371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โหลดแบบแยกส่วน + retry + ไม่แทน missing ด้วย 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0F0379-3223-42A0-99CF-C5313E7A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209925"/>
            <a:ext cx="1495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ปรับแล้ว</a:t>
            </a:r>
          </a:p>
        </p:txBody>
      </p:sp>
      <p:cxnSp>
        <p:nvCxnSpPr>
          <p:cNvPr id="62" name=""/>
          <p:cNvCxnSpPr/>
          <p:nvPr/>
        </p:nvCxnSpPr>
        <p:spPr>
          <a:xfrm xmlns:a="http://schemas.openxmlformats.org/drawingml/2006/main">
            <a:off x="533400" y="3724275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6F5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59E7D5-FFC3-48EF-89E5-B7F9CF34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2181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ตัวกรอง/Cache ค้าง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429C47-9CBC-428F-9840-731616F7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800475"/>
            <a:ext cx="2181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เลือกบริษัทแต่ KPI ยังเป็นยอดรวม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97CB96-9C08-445A-83B2-0E19EE64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800475"/>
            <a:ext cx="4371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ผูก cache key กับวัน/บริษัท/ประเภท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5896CF-8B1E-43FB-8400-AD832CA2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800475"/>
            <a:ext cx="1495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ปรับแล้ว</a:t>
            </a:r>
          </a:p>
        </p:txBody>
      </p:sp>
      <p:cxnSp>
        <p:nvCxnSpPr>
          <p:cNvPr id="67" name=""/>
          <p:cNvCxnSpPr/>
          <p:nvPr/>
        </p:nvCxnSpPr>
        <p:spPr>
          <a:xfrm xmlns:a="http://schemas.openxmlformats.org/drawingml/2006/main">
            <a:off x="533400" y="4314825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6F5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7B8B52-93B7-4C77-A24D-7A4D179E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14825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CAFDDD-FEB7-4DE3-8437-9766EBC2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2181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Preview ไฟล์ไม่ได้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2A417A-2216-4512-9A3E-0691F19E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391025"/>
            <a:ext cx="2181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ยืนยันหลักฐานและประเภทไฟล์ยาก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466D22-9CFC-4515-BB08-67AC1171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391025"/>
            <a:ext cx="4371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signed URL fallback + ดาวน์โหลด + replace/requeue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4650F9-640D-4C99-9D2B-49F9E62C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391025"/>
            <a:ext cx="1495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ปรับแล้ว</a:t>
            </a:r>
          </a:p>
        </p:txBody>
      </p:sp>
      <p:cxnSp>
        <p:nvCxnSpPr>
          <p:cNvPr id="73" name=""/>
          <p:cNvCxnSpPr/>
          <p:nvPr/>
        </p:nvCxnSpPr>
        <p:spPr>
          <a:xfrm xmlns:a="http://schemas.openxmlformats.org/drawingml/2006/main">
            <a:off x="533400" y="4905375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6F5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6F2529-F422-4322-8518-B6B9979D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2181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หัวตาราง/เวลาไม่มาตรฐาน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39FE96-94EE-40DF-AC28-FF767DC5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981575"/>
            <a:ext cx="2181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อ่านไฟล์ไม่ครบหรือจับคู่ผิด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83E7AB-7EE4-425A-8715-77509434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981575"/>
            <a:ext cx="4371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mapping ต่อ Provider + quality gate + manual override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25BFC1-BD1A-49E9-90AA-276CE300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981575"/>
            <a:ext cx="1495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ต่อเนื่อง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624107-61C4-44BB-B7D5-87ECDEF8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43575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FD33E2-F45C-490A-9CF9-F4972362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72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43636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C43636"/>
                </a:solidFill>
                <a:latin typeface="Kanit"/>
                <a:ea typeface="Kanit"/>
                <a:cs typeface="Kanit"/>
              </a:rPr>
              <a:t>ข้อควรระวัง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52CCC1-4AB6-4E0D-87B3-47B56242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816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ตัวเลขศูนย์ต้องหมายถึง “โหลดสำเร็จและเป็นศูนย์” เท่านั้น หากข้อมูลไม่พร้อมต้องแสดง — หรือข้อความเตือน</a:t>
            </a:r>
          </a:p>
        </p:txBody>
      </p:sp>
    </p:spTree>
    <p:extLst>
      <p:ext uri="{BB962C8B-B14F-4D97-AF65-F5344CB8AC3E}">
        <p14:creationId xmlns:p14="http://schemas.microsoft.com/office/powerpoint/2010/main" val="11713276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DB6895-5284-4F16-B88C-47B5E582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DAILY OPERATING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7F16E-ED8B-43FC-ADA9-638C47DD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19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240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วิธีใช้งานประจำวัน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EB083-D786-4224-83F4-AE89EDBF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953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ผู้ใช้เดินตาม 5 ขั้น และกดไปต่อจากหน้าที่กำลังทำได้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E3A05-CE10-4A25-9D68-5DCC8AA7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627D98"/>
                </a:solidFill>
                <a:latin typeface="Kanit"/>
                <a:ea typeface="Kanit"/>
                <a:cs typeface="Kanit"/>
              </a:rPr>
              <a:t>09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533400" y="16192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6F5"/>
            </a:solidFill>
            <a:prstDash val="solid"/>
          </a:ln>
        </p:spPr>
      </p:cxn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2918ef6f542c3"/>
          <a:srcRect xmlns:a="http://schemas.openxmlformats.org/drawingml/2006/main" l="0" t="5109" r="0" b="51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952625"/>
            <a:ext cx="65722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89B4A4-D3D4-4F37-A805-57AD1383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52625"/>
            <a:ext cx="40005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6D210-8B3F-4E95-9A10-084B32FD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71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575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ขั้นตอนการทำงาน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DBC8C-70A8-43D3-A44B-7744BB4F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90800"/>
            <a:ext cx="304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52E92B-5FA8-46D6-8A38-E2EB56A1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193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F5DD10-C171-4E42-86CD-E46FF775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71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20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ตรวจไฟล์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4283B-3433-4538-91B5-A1EE712D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098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ดูไฟล์ครบ/อ่านได้/ประเภทถูก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FBD993-2102-473C-988D-ACFF69D0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90875"/>
            <a:ext cx="304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0D897B-B475-45B6-ACAD-519A1FE6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194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4DE960-7A7F-4BF5-8FFF-CDA921A5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718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20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ดูภาพรวม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CFDCB0-B830-4E6B-ABDF-84B2CC96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099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เลือก 1 บริษัท + 1 วัน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F30425-49AA-45FC-B250-9A7504FF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90950"/>
            <a:ext cx="304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390F70-8EB0-499A-96C8-B7BBBA36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195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2E33C6-80C3-49DA-9783-42CB63B9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719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20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ตรวจข้อผิดปกติ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A9E79A-8A9F-45DE-A53B-0DAC84B9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100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กรองยอด เวลา Provider และ SLA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9ED55D-91EB-482A-ABB3-9BCD7B09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91025"/>
            <a:ext cx="304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84D2EB-D690-401F-B576-729F005C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196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A79EA1-7555-46CA-AE3B-D77AB81A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719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20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ติดตาม/อนุมัติ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194D85-42B3-489A-AB6B-2F51C07D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101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ส่งชี้แจง ผูกหลักฐาน ปิดเคส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2605DE-8A65-4EFD-906F-62DBCDC1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91100"/>
            <a:ext cx="304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B75510-1D44-44DB-B985-649CC84F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9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3043A4-19F7-4A36-B6DB-6814C2A1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72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20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ออกรายงาน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1CA904-8BB8-4BF4-A43A-B31ADAFD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101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Export รายวันและเก็บ Audit Log</a:t>
            </a:r>
          </a:p>
        </p:txBody>
      </p:sp>
    </p:spTree>
    <p:extLst>
      <p:ext uri="{BB962C8B-B14F-4D97-AF65-F5344CB8AC3E}">
        <p14:creationId xmlns:p14="http://schemas.microsoft.com/office/powerpoint/2010/main" val="373762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38E8CE3-54D9-432F-A362-B06F2C0B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FILE REMEDIATION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09011-2BA9-4CDE-99E3-5C3A1CC2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19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240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เมื่อไฟล์ผิดประเภทหรืออ่านไม่ได้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817957-E10B-4892-86E0-46770838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953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แก้ที่ไฟล์ต้นทางโดยไม่ทำลายประวัติ และส่งกลับเข้าคิวอัตโนมัติ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7FD41-E65C-4B1F-97E0-90BA0161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627D98"/>
                </a:solidFill>
                <a:latin typeface="Kanit"/>
                <a:ea typeface="Kanit"/>
                <a:cs typeface="Kanit"/>
              </a:rPr>
              <a:t>10</a:t>
            </a:r>
          </a:p>
        </p:txBody>
      </p:sp>
      <p:cxnSp>
        <p:nvCxnSpPr>
          <p:cNvPr id="65" name=""/>
          <p:cNvCxnSpPr/>
          <p:nvPr/>
        </p:nvCxnSpPr>
        <p:spPr>
          <a:xfrm xmlns:a="http://schemas.openxmlformats.org/drawingml/2006/main">
            <a:off x="533400" y="16192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6F5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C43A0-4A1F-4ECA-A64D-356A2E0D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2476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B1763-B204-4807-9904-DA5EE03B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05025"/>
            <a:ext cx="361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8A6D0-64F8-499C-ADD1-AAB25663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84584-6E87-44DE-94FF-9FCF85A0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425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เปิด Preview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CAF0AB-FFE0-4A00-91A7-0826D6E9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0507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ดูชื่อไฟล์ เนื้อหา บริษัท วันที่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20FA7F-01B1-4FD2-B85B-11D52C6A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62200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58C442-DB0E-4FA6-A448-1E470D80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952625"/>
            <a:ext cx="2476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B25BA2-76C1-473F-A2EE-CF3035A9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105025"/>
            <a:ext cx="361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37AC4-3AD1-48DD-9530-1AA25D73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1336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A6225D-ED7A-4A33-83D0-E0DAD22E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114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425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แก้ Metadata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FA7C27-1AD0-48A5-8939-9CF73BBA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50507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เลือกบริษัทและประเภทไฟล์ที่ถูก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4BCEAD-96D2-4004-BE61-32840E7F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362200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2BB05-F423-4E5D-A4F6-0E244013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52625"/>
            <a:ext cx="2476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9657EE-1306-44AE-AB51-B46036D5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05025"/>
            <a:ext cx="361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9AE907-AE32-4CBA-B9C7-3F45949C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336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12E92B-4DED-49F1-88A6-E41D969B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14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425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แทนที่ไฟล์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263D62-4D4A-427A-8832-8389D72D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0507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อัปโหลดฉบับแก้ หากต้นฉบับเสีย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AB9C2C-EF38-4727-B3A1-C555A1F0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62200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55B9CD-0528-4C9C-A7E7-0ECD5593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952625"/>
            <a:ext cx="2476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92CA4C-D4D5-4AF0-9DF0-A6F5D6D5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105025"/>
            <a:ext cx="361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DBBA5D-630C-478B-8732-15D75194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1336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E4A44B-4C07-4814-8A83-08AA4904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114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425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บันทึกและรันต่อ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B342E0-D430-4680-838B-059C8E08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50507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ระบบเก็บเวอร์ชันเดิมและ requeue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E2894B-19E5-4BFF-BA8D-FCEC797E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95675"/>
            <a:ext cx="108394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60E5B3-9D0F-4D9A-B97F-597B34A9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ประเภทไฟล์ที่ผู้ใช้เลือกได้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CB36D0-742B-4D96-AAF8-642C472F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228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BC1073-E0B7-449E-BA61-6A6707E2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394BD8-C9A5-4D03-8A6B-6EE8B262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43375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STM ฝาก-ถอน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EA265F-A607-40A7-AA70-F7619794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43375"/>
            <a:ext cx="228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263F7D-12E7-4537-8395-716E827B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719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E7596F-4B1D-4232-A536-33BB7EDB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43375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BO รายงานหลังบ้าน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1943CE-F1D8-462B-8087-ADC736A7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228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CD75B6-19CC-4478-A54C-9D262ACA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672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875D8F-24C5-4B29-8490-0ACF27B8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PM ฝาก/ถอน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E3FE26-CE3F-435F-9216-B3895195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438650"/>
            <a:ext cx="228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922C75-7720-438C-8AA9-581AA90A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4672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•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F95916-7611-4BB2-B558-0121A7FD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38650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ฝากมือ - เครดิต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840C18-DFEF-49E2-9381-4077E6B9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33925"/>
            <a:ext cx="228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C5D34D-B3AA-4A82-94BB-39C5F884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•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ACFEE14-710B-4B58-8EE0-655D5D35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33925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ฝากมือ - Payment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CF0C462-C5F6-4584-B27E-0697EDC8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733925"/>
            <a:ext cx="228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389DCFC-6EB6-4520-B90E-43837FB9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7625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•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6622F36-C78A-4900-B975-716AAE58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33925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ฝากมือ - โบนัส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FAA25F8-5D91-49E1-955C-65813F54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228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FE91E1F-0EEA-4802-A473-A2208AAC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577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•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0787846-E035-4503-B59E-581EE3C7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29200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ถอนค่าคอมมิชชั่น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AFDAE2D-2A3C-4404-B71A-5FB376AC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029200"/>
            <a:ext cx="228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48D93B5-EABF-40DE-9464-28CA2CB1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0577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•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62B388C-8091-4A00-9522-63C0D13C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29200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ถอนเครดิต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5A3296D-DB84-407D-A638-2307DA6A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24475"/>
            <a:ext cx="228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E2017A2-1AF1-4182-81DD-5513A5A2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•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055EA8C-A6FB-4E23-BDB2-AFC0D410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24475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ไฟล์ชี้แจง/หลักฐาน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3D1D092-4AF7-4830-A9D9-7D8E49F0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24475"/>
            <a:ext cx="228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F324A86-BB5D-41B7-A827-E8AA583C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•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E3DB8D0-4C7B-4BB3-988B-40025F20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324475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ยังไม่ทราบประเภท</a:t>
            </a:r>
          </a:p>
        </p:txBody>
      </p:sp>
    </p:spTree>
    <p:extLst>
      <p:ext uri="{BB962C8B-B14F-4D97-AF65-F5344CB8AC3E}">
        <p14:creationId xmlns:p14="http://schemas.microsoft.com/office/powerpoint/2010/main" val="3708791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BCB5D2-5DB7-449C-AD0A-C9603019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EXCEPTION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C9B5B-F564-4AE3-9C87-EB86FAC7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19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240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วิธีตัดสินใจและปิดเคส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6111B-19BB-4E5B-8581-878A9A74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953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ระบบช่วยจับคู่ก่อน คนตรวจเฉพาะเรื่องที่เกินเกณฑ์หรือไม่มีหลักฐาน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F4B1F-A4C2-4310-AD6B-588CC68E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627D98"/>
                </a:solidFill>
                <a:latin typeface="Kanit"/>
                <a:ea typeface="Kanit"/>
                <a:cs typeface="Kanit"/>
              </a:rPr>
              <a:t>11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533400" y="16192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6F5"/>
            </a:solidFill>
            <a:prstDash val="solid"/>
          </a:ln>
        </p:spPr>
      </p:cxn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ae75602e4d46c7"/>
          <a:stretch xmlns:a="http://schemas.openxmlformats.org/drawingml/2006/main"/>
        </p:blipFill>
        <p:spPr>
          <a:xfrm xmlns:a="http://schemas.openxmlformats.org/drawingml/2006/main">
            <a:off x="1052513" y="1952625"/>
            <a:ext cx="2867025" cy="40957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005602-48D1-4D56-8139-17D42A7D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952625"/>
            <a:ext cx="66484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D3987-9B91-4167-95BD-442342E9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71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Decision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0CA31-EDE0-4A9E-B917-AEA05B2D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28900"/>
            <a:ext cx="6096000" cy="4762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7BCD1A-1F34-4848-98D8-19583949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24150"/>
            <a:ext cx="266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4D35C-5E82-4E0E-9CE4-2D0CBFF2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527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8A52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118A52"/>
                </a:solidFill>
                <a:latin typeface="Kanit"/>
                <a:ea typeface="Kanit"/>
                <a:cs typeface="Kani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1406C2-4599-46B8-A4EE-2CDBA579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051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ยอด + บัญชี + เวลาอยู่ใน tolerance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01EA54-9F57-495F-A728-5B7BC241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051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ปิดอัตโนมัติ / ไม่สร้างเคส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261F35-AD38-4498-AB1F-012DCB8B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19450"/>
            <a:ext cx="6096000" cy="4762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32F18C-7ABB-4D41-BC0A-BAA17A89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14700"/>
            <a:ext cx="266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4B8667-64E4-4F06-8013-C015A698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432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7660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A76600"/>
                </a:solidFill>
                <a:latin typeface="Kanit"/>
                <a:ea typeface="Kanit"/>
                <a:cs typeface="Kanit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CFCDD4-9CD0-4C8B-BD06-998F97AB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956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ยอดตรง แต่เวลาคลาดเล็กน้อย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354855-E689-4C0B-ADD5-39DD01CA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95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Low — ตรวจตาม tolerance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D124B3-9C29-482C-8335-5F9EB66C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10000"/>
            <a:ext cx="6096000" cy="4762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EBE775-1FFE-4C87-B2DE-D1F5E5FF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05250"/>
            <a:ext cx="266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C4050F-A273-47B7-B7C5-F05056C2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33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43636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C43636"/>
                </a:solidFill>
                <a:latin typeface="Kanit"/>
                <a:ea typeface="Kanit"/>
                <a:cs typeface="Kanit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8D80BB-DF42-46CB-964E-9EEEF8BA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86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ไม่พบอีกฝั่ง / บัญชีหรือยอดไม่ตรง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D75027-5037-448A-8C8D-ED5D9988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862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สร้าง Exception และส่งชี้แจง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848973-5E4B-40AF-851F-DEE6DD80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00550"/>
            <a:ext cx="6096000" cy="4762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1F7E9B-1F81-4545-BDA7-71EEED4C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95800"/>
            <a:ext cx="266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475FF0-778B-464C-A57C-3A5A8C20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5243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5E24B2-F124-4A1E-AF1A-665A9EFA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767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มีไฟล์ชี้แจง/หลักฐาน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141184-E2A9-4E64-B110-4B392C3D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76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Preview → ผูกเคส → Audit Lead อนุมัติ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8BF252-1430-4A30-A6F5-073644A4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6096000" cy="4762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5F9FD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D9FC82-9006-49EA-A221-2F387622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086350"/>
            <a:ext cx="266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231C32-D69B-4A4D-8671-7D57EE78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149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43636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C43636"/>
                </a:solidFill>
                <a:latin typeface="Kanit"/>
                <a:ea typeface="Kanit"/>
                <a:cs typeface="Kanit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41C35F-97B8-45C0-9B53-552B2298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0673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ยืนยันความเสียหาย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EA6123-6AFF-479A-8187-41E0AD48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673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บันทึกทะเบียนความเสียหายและปิดรอบ</a:t>
            </a:r>
          </a:p>
        </p:txBody>
      </p:sp>
    </p:spTree>
    <p:extLst>
      <p:ext uri="{BB962C8B-B14F-4D97-AF65-F5344CB8AC3E}">
        <p14:creationId xmlns:p14="http://schemas.microsoft.com/office/powerpoint/2010/main" val="10110249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8C7903-FB1A-465E-87F0-E20AD129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GOVERNANCE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E09E4-6E05-4515-8078-63A898C9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19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240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บทบาทและสิทธิ์ใช้งาน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22447-B861-4490-8DD7-A11DF5F5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953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เห็นข้อมูลตามหน้าที่ ลดการแก้ไขผิดคน และเก็บผู้ดำเนินการทุกขั้น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34FB5-679A-4C14-89D3-596A0851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627D98"/>
                </a:solidFill>
                <a:latin typeface="Kanit"/>
                <a:ea typeface="Kanit"/>
                <a:cs typeface="Kanit"/>
              </a:rPr>
              <a:t>12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533400" y="16192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6F5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01927-4587-4A63-8F49-C4692A37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1083945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7EFA0-4CF6-4EC0-84B4-B1A4FAC8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บทบาท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10D8C-296E-462A-959B-147EC29C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28825"/>
            <a:ext cx="2181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เห็นข้อมูล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AEF04-D0B0-4177-AEFF-FE8E8D81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028825"/>
            <a:ext cx="3848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ทำรายการได้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796894-7D71-4A3F-8F4E-AC280B92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028825"/>
            <a:ext cx="2543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ข้อจำกัด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533400" y="2543175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6F5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B99BC3-C355-42E2-9BB9-CB169638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เจ้าหน้าที่ Audit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6A33CB-8513-4B19-9BA2-152A1FDF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619375"/>
            <a:ext cx="2181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บริษัทที่รับผิดชอบ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7FCBF5-610A-4749-AEFD-4805DBA9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19375"/>
            <a:ext cx="3848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ตรวจไฟล์ ใส่ note ส่งชี้แจง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16FD40-3A63-49AB-8F8C-43E912A6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619375"/>
            <a:ext cx="2543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อนุมัติ/ตั้งค่าไม่ได้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533400" y="3133725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6F5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C9053D-51EA-48AA-9B78-B6991ECD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133725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29B591-6D90-49F1-82EB-AF963065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Audit Lead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52E882-0926-40A0-BB49-87D78C8C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209925"/>
            <a:ext cx="2181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ทุกบริษัทในขอบเขต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C59480-B110-4C48-A616-A499823C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09925"/>
            <a:ext cx="3848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อนุมัติ ปิดเคส ปิดรอบความเสียหาย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0B3643-8222-4A9C-9B0E-794A07D9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209925"/>
            <a:ext cx="2543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ลบหลักฐานถาวรไม่ได้</a:t>
            </a:r>
          </a:p>
        </p:txBody>
      </p:sp>
      <p:cxnSp>
        <p:nvCxnSpPr>
          <p:cNvPr id="62" name=""/>
          <p:cNvCxnSpPr/>
          <p:nvPr/>
        </p:nvCxnSpPr>
        <p:spPr>
          <a:xfrm xmlns:a="http://schemas.openxmlformats.org/drawingml/2006/main">
            <a:off x="533400" y="3724275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6F5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6893DF-2D1B-4E93-9D4F-8C0FDFCF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ผู้ชี้แจงบริษัท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AE45BE-63A3-458D-9966-1781DB75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800475"/>
            <a:ext cx="2181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เฉพาะบริษัทตนเอง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C5F890-8205-4938-AA8A-AC1F2394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800475"/>
            <a:ext cx="3848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ตอบชี้แจงและแนบหลักฐาน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F76F54-A2F2-43D6-95B9-05FAF1BC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800475"/>
            <a:ext cx="2543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ไม่เห็นข้อมูลบริษัทอื่น</a:t>
            </a:r>
          </a:p>
        </p:txBody>
      </p:sp>
      <p:cxnSp>
        <p:nvCxnSpPr>
          <p:cNvPr id="67" name=""/>
          <p:cNvCxnSpPr/>
          <p:nvPr/>
        </p:nvCxnSpPr>
        <p:spPr>
          <a:xfrm xmlns:a="http://schemas.openxmlformats.org/drawingml/2006/main">
            <a:off x="533400" y="4314825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6F5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5B7263-E14A-4CE3-9671-91E01CBA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14825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996666-8520-4090-A4B2-0831F515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ผู้บริหาร / การเงิน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CD3D69-6740-4CA7-BAD2-EF663ACC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91025"/>
            <a:ext cx="2181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ภาพรวมและรายงาน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D820C6-1F02-47FB-B31D-204BCCF2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391025"/>
            <a:ext cx="3848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ดูและ Export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54A49B-EF1F-4B3B-9B7A-3E42157D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391025"/>
            <a:ext cx="2543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ไม่แก้ข้อมูลปฏิบัติการ</a:t>
            </a:r>
          </a:p>
        </p:txBody>
      </p:sp>
      <p:cxnSp>
        <p:nvCxnSpPr>
          <p:cNvPr id="73" name=""/>
          <p:cNvCxnSpPr/>
          <p:nvPr/>
        </p:nvCxnSpPr>
        <p:spPr>
          <a:xfrm xmlns:a="http://schemas.openxmlformats.org/drawingml/2006/main">
            <a:off x="533400" y="4905375"/>
            <a:ext cx="10839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6F5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D85058-EC5B-4779-9DCA-566A3DEB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02A43"/>
                </a:solidFill>
                <a:latin typeface="Kanit"/>
                <a:ea typeface="Kanit"/>
                <a:cs typeface="Kanit"/>
              </a:rPr>
              <a:t>ผู้ดูแลระบบ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A7AE68-6C5F-40F6-88DC-DC55CF62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81575"/>
            <a:ext cx="2181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ทุกหน้า ทุกบริษัท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5D18F8-661A-45A9-9BD0-BA99A1F4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981575"/>
            <a:ext cx="3848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เพิ่มผู้ใช้ กำหนดสิทธิ์ ช่วยทุก workflow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7EE9A4-3807-46CA-821C-514BEC90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981575"/>
            <a:ext cx="2543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ลบ transaction/หลักฐานถาวรไม่ได้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7B3A5A-6F87-4D10-8776-4D7F3B1E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8394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F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5B3258-41AA-48A2-A026-D6AFDE86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8A52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118A52"/>
                </a:solidFill>
                <a:latin typeface="Kanit"/>
                <a:ea typeface="Kanit"/>
                <a:cs typeface="Kanit"/>
              </a:rPr>
              <a:t>การเพิ่มผู้ใช้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C08DD1-D2C8-4686-A9C3-A4EC7ACF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19725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A43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102A43"/>
                </a:solidFill>
                <a:latin typeface="Kanit"/>
                <a:ea typeface="Kanit"/>
                <a:cs typeface="Kanit"/>
              </a:rPr>
              <a:t>ระบบ → ผู้ใช้และสิทธิ์ → + เพิ่มผู้ใช้ → กรอกอีเมล/ชื่อ/บทบาท/บริษัท → ส่งคำเชิญ</a:t>
            </a:r>
          </a:p>
        </p:txBody>
      </p:sp>
    </p:spTree>
    <p:extLst>
      <p:ext uri="{BB962C8B-B14F-4D97-AF65-F5344CB8AC3E}">
        <p14:creationId xmlns:p14="http://schemas.microsoft.com/office/powerpoint/2010/main" val="3755316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D75813-5ABD-4727-9052-CD2468FA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NEXT 30 DAYS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B513E-BC7E-4F67-8343-C11F7FBD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919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2400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ข้อเสนอเพื่ออนุมัติและทำต่อ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22DF5-2E26-4BC9-A788-56927848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953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ทำให้ระบบเป็นแหล่งรายงานอย่างเป็นทางการโดยควบคุมข้อมูลตั้งแต่ต้นทาง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B779B-0923-4B08-854C-22D71D35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3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627D98"/>
                </a:solidFill>
                <a:latin typeface="Kanit"/>
                <a:ea typeface="Kanit"/>
                <a:cs typeface="Kanit"/>
              </a:rPr>
              <a:t>13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533400" y="16192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E6F5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7EB2B-8F88-45D5-8773-42CBF90A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50958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6DA2D-9CB9-475C-82E3-8DF5A768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05025"/>
            <a:ext cx="361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8514B-1645-421F-A131-4C2A1404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68D1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0868D1"/>
                </a:solidFill>
                <a:latin typeface="Kanit"/>
                <a:ea typeface="Kanit"/>
                <a:cs typeface="Kanit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37E85D-3BD5-4F05-909B-3B5DC937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425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มาตรฐานไฟล์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1F44CE-69A5-4E0E-933D-5B0FE52D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05075"/>
            <a:ext cx="471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บังคับ template ชื่อไฟล์ + column mapping ต่อ Provider และตรวจก่อนส่ง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9A523B-7AF3-494C-9B2D-65105A8C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952625"/>
            <a:ext cx="50958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D8738-DA76-4A19-B670-73977EDB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105025"/>
            <a:ext cx="361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A939C4-8FF2-4A7E-96FA-95FA28AC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1336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8A52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118A52"/>
                </a:solidFill>
                <a:latin typeface="Kanit"/>
                <a:ea typeface="Kanit"/>
                <a:cs typeface="Kanit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6A0074-1C7C-49BB-8C13-D881C509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114550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425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Daily sign-off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2D4B0C-0A21-427C-A0CA-92EE5E61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505075"/>
            <a:ext cx="471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ทุกวันเลือก 1 บริษัท/วัน ตรวจครบไฟล์ → exception → หลักฐาน → export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E019AD-0740-4941-96BB-3E01DFFC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50958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DF15CD-57BB-46F2-86C5-218B5366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33775"/>
            <a:ext cx="361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137FF9-CE75-4DE7-8BC3-A812E799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43636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C43636"/>
                </a:solidFill>
                <a:latin typeface="Kanit"/>
                <a:ea typeface="Kanit"/>
                <a:cs typeface="Kanit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88EABA-8D94-414D-BDC5-FBA6FFD2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43300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425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SLA และความเสี่ยง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D4FCB9-D2C0-45B4-AD34-BD4BD000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33825"/>
            <a:ext cx="471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เร่ง SK8/FR8 และตั้งเจ้าของเคสตามบริษัท พร้อม Telegram สรุปรายวัน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FE3B34-4559-4EDA-96A3-C9CFB5E8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381375"/>
            <a:ext cx="50958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0C017C-0DBA-4C11-9E1C-8271A508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533775"/>
            <a:ext cx="361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9418C0-D4CD-49E0-93EF-0E6A10DB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5623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76600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A76600"/>
                </a:solidFill>
                <a:latin typeface="Kanit"/>
                <a:ea typeface="Kanit"/>
                <a:cs typeface="Kanit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694F18-5DF7-40D6-9E2E-7FB00393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543300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2A4A"/>
                </a:solidFill>
                <a:latin typeface="Kanit"/>
                <a:ea typeface="Kanit"/>
                <a:cs typeface="Kanit"/>
              </a:defRPr>
            </a:pPr>
            <a:r>
              <a:rPr sz="1425" b="1">
                <a:solidFill>
                  <a:srgbClr val="0A2A4A"/>
                </a:solidFill>
                <a:latin typeface="Kanit"/>
                <a:ea typeface="Kanit"/>
                <a:cs typeface="Kanit"/>
              </a:rPr>
              <a:t>Capacity control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DCC281-0001-47D6-8602-17CFADE3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933825"/>
            <a:ext cx="471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27D98"/>
                </a:solidFill>
                <a:latin typeface="Kanit"/>
                <a:ea typeface="Kanit"/>
                <a:cs typeface="Kanit"/>
              </a:rPr>
              <a:t>ติดตาม n8n execution, Supabase storage/database และแจ้งเตือนก่อนเต็ม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6B1A9D-FC55-4BA8-8EAD-BC23CBBC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08394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A2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F0F3E9-CB4A-4783-96CD-6822C044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3C0FF"/>
                </a:solidFill>
                <a:latin typeface="Kanit"/>
                <a:ea typeface="Kanit"/>
                <a:cs typeface="Kanit"/>
              </a:defRPr>
            </a:pPr>
            <a:r>
              <a:rPr sz="1125" b="1">
                <a:solidFill>
                  <a:srgbClr val="83C0FF"/>
                </a:solidFill>
                <a:latin typeface="Kanit"/>
                <a:ea typeface="Kanit"/>
                <a:cs typeface="Kanit"/>
              </a:rPr>
              <a:t>มติที่ต้องการ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C10829-6572-4107-8AEA-528E250F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1575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อนุมัติให้ใช้ผลตั้งแต่ 27 ส.ค. เป็น baseline จริง พร้อมกำหนดเจ้าของข้อมูล 9 บริษัทและตรวจ Daily sign-off ทุกวัน</a:t>
            </a:r>
          </a:p>
        </p:txBody>
      </p:sp>
    </p:spTree>
    <p:extLst>
      <p:ext uri="{BB962C8B-B14F-4D97-AF65-F5344CB8AC3E}">
        <p14:creationId xmlns:p14="http://schemas.microsoft.com/office/powerpoint/2010/main" val="7573230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2026-08-30T10:12:25.8470000Z</dcterms:created>
  <dcterms:modified xsi:type="dcterms:W3CDTF">2026-08-30T10:12:25.8480000Z</dcterms:modified>
</coreProperties>
</file>