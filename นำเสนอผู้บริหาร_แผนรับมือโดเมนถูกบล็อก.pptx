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33F"/>
                </a:solidFill>
                <a:latin typeface="Tahoma"/>
              </a:defRPr>
            </a:pPr>
            <a:r>
              <a:rPr sz="1300" b="0" i="0" u="none" strike="noStrike">
                <a:solidFill>
                  <a:srgbClr val="12233F"/>
                </a:solidFill>
                <a:latin typeface="Tahoma"/>
              </a:rPr>
              <a:t>เวลาเฉลี่ยต่อเหตุการณ์ (นาที) — ยิ่งน้อยยิ่งดี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ปัจจุบัน (ประมาณการ)</c:v>
                </c:pt>
              </c:strCache>
            </c:strRef>
          </c:tx>
          <c:spPr>
            <a:solidFill>
              <a:srgbClr val="C957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3B4A"/>
                    </a:solidFill>
                    <a:latin typeface="Tahom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เวลาจนตรวจพบ</c:v>
                  </c:pt>
                  <c:pt idx="1">
                    <c:v>เวลาจนมีคนรับเรื่อง</c:v>
                  </c:pt>
                  <c:pt idx="2">
                    <c:v>เวลาจนกลับมาใช้ได้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เป้าหมายหลังติดตั้ง</c:v>
                </c:pt>
              </c:strCache>
            </c:strRef>
          </c:tx>
          <c:spPr>
            <a:solidFill>
              <a:srgbClr val="1F8A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3B4A"/>
                    </a:solidFill>
                    <a:latin typeface="Tahom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เวลาจนตรวจพบ</c:v>
                  </c:pt>
                  <c:pt idx="1">
                    <c:v>เวลาจนมีคนรับเรื่อง</c:v>
                  </c:pt>
                  <c:pt idx="2">
                    <c:v>เวลาจนกลับมาใช้ได้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E3B4A"/>
                  </a:solidFill>
                  <a:latin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3B4A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4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E3B4A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เปิดด้วยประเด็นเดียว: วันนี้เรารู้ว่าเว็บล่มก็ต่อเมื่อลูกค้าโทรมาบ่น ซึ่งช้าเกินไปสำหรับธุรกิจที่รายได้มาจากลิงก์ใน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ย้ำว่าเลข 0 สามตัวคือช่องว่างที่ทำให้ทุกเหตุการณ์กลายเป็นเรื่องใหญ่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เสาที่ 2 คือหัวใจ — ถ้าไม่มีลิงก์กลาง ต่อให้แจ้งเตือนเร็วแค่ไหน ก็ยังต้องไล่แก้ลิงก์ทีละจุดอยู่ดี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จุดสำคัญที่ขออนุมัติคือข้อ T+3 — ต้องมี IT เวรอย่างเป็นทางการ ไม่งั้นแจ้งเตือนไปก็ไม่มีคนรับ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เน้นว่านโยบาย "ลิงก์กลางเท่านั้น" ต้องอนุมัติเป็นนโยบาย ไม่ใช่แค่ขอความร่วมมือ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เน้นว่าถ้าไม่ลงทุนงานฝั่งซ้าย (ก่อนเกิดเหตุ) ตัวเลข MTTR 15 นาทีจะทำไม่ได้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ถ้าบอทหลอนบ่อย ทีมงานจะเลิกสนใจ ซึ่งอันตรายกว่าการไม่มีบอทเลย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สไลด์นี้คือเหตุผลหลักที่ต้องขออนุมัติค่า VPS ในไทย 3 จุด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ขอให้ผู้บริหารกำหนดให้รายงาน KPI ชุดนี้เป็นวาระประจำเดือน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ขอให้อนุมัติ Phase 0 ก่อนได้ทันที เพราะใช้งบน้อยและเห็นผลใน 7 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ตัวเลขเป็นช่วงประมาณการ ยังไม่ได้ขอใบเสนอราคา ขออนุมัติเป็นกรอบวงเงินก่อน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ข้อสุดท้ายสำคัญ — ถ้าไม่ตรวจสอบต้นเหตุ เราจะวนอยู่กับการเปลี่ยนโดเมนไม่จบ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ปิดท้ายด้วยการขอมติในข้อ 1 และ 2 ก่อน เพื่อให้เริ่มงานได้ในสัปดาห์นี้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5669280" cy="566928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A8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ข้อเสนอเพื่อพิจารณาอนุมัติ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แผนรับมือเหตุโดเมนถูกบล็อก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และเว็บไซต์ล่ม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Domain Availability &amp; Incident Response 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526280"/>
            <a:ext cx="2011680" cy="27432"/>
          </a:xfrm>
          <a:prstGeom prst="rect">
            <a:avLst/>
          </a:prstGeom>
          <a:solidFill>
            <a:srgbClr val="F0A86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เป้าหมาย: ลดเวลาแก้ไขจากมากกว่า 60 นาที เหลือไม่เกิน 15 นาที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ฝ่ายไอที  |  4 สิงหาคม 2569  |  เวอร์ชัน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ปัญหา: วันนี้เรารู้ปัญหาจากลูกค้า ไม่ใช่จากระบบ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สภาพปัจจุบัน (As-Is) — ยังไม่มีระบบมอนิเตอร์ใด 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475488" cy="475488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24505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เว็บล่ม /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โดนบล็อก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305409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ลูกค้าเข้าไม่ได้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แต่ไม่มีใครรู้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15184" y="25146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52928" y="169164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4096" y="1874520"/>
            <a:ext cx="475488" cy="475488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12" name="Text 10"/>
          <p:cNvSpPr/>
          <p:nvPr/>
        </p:nvSpPr>
        <p:spPr>
          <a:xfrm>
            <a:off x="3054096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9232" y="24505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ลูกค้าทยอย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แจ้งเข้ามา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9232" y="305409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30-120 นาที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หลังเกิดเหตุ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25146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57216" y="169164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58384" y="1874520"/>
            <a:ext cx="475488" cy="475488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18" name="Text 16"/>
          <p:cNvSpPr/>
          <p:nvPr/>
        </p:nvSpPr>
        <p:spPr>
          <a:xfrm>
            <a:off x="5358384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4505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แจ้งไอที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0" y="305409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ตามตัวไม่เจอ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ถ้านอกเวลางาน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23760" y="25146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61504" y="169164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2672" y="1874520"/>
            <a:ext cx="475488" cy="475488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24" name="Text 22"/>
          <p:cNvSpPr/>
          <p:nvPr/>
        </p:nvSpPr>
        <p:spPr>
          <a:xfrm>
            <a:off x="7662672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07808" y="24505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ไอทีหาสาเหตุ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และหาโดเมนใหม่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07808" y="305409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จด DNS + SSL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ใช้เวลาเป็นชั่วโมง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28048" y="25146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65792" y="1691640"/>
            <a:ext cx="20848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66960" y="1874520"/>
            <a:ext cx="475488" cy="475488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12096" y="245059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แก้ลิงก์ใน LINE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ทีละจุดด้วยมือ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12096" y="305409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ตกหล่นบางจุด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ลูกค้ายังได้ลิงก์เก่า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069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BEDEA"/>
          </a:solidFill>
          <a:ln w="12700">
            <a:solidFill>
              <a:srgbClr val="EFC9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2245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ไม่มีใครรู้ว่าใช้เวลาแก้จริงเท่าไร เพราะไม่เคยมีการจับเวลาและไม่มีบันทึกเหตุการณ์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" y="45537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4B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ทุกนาทีที่ลูกค้าเข้าไม่ได้ = ไม่มีการสมัคร ไม่มีการฝาก และรายการถอนค้างอยู่ในระบบ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257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30-120 นาที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กว่าจะรู้ว่าเกิดเหตุ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74136" y="5257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จุด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3374136" y="5806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ที่ต้องแก้ลิงก์ด้วยมือ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99632" y="5257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199632" y="5806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โดเมนสำรองที่พร้อมใช้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25128" y="5257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025128" y="5806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ระบบแจ้งเตือนที่มีอยู่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แนวทางแก้ไข: 3 เสาหลัก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ทำครบทั้งสามเสาจึงจะลดเวลาได้จริง ขาดเสาใดเสาหนึ่งจะติดคอขวดที่เสานั้น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40690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รู้ก่อน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340864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288036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บอทตรวจอัตโนมัติทุก 1 นาที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ตรวจจากหลายจุดในไทย หลาย ISP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 2 ครั้งก่อนแจ้ง กันเตือนหลอน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828032"/>
            <a:ext cx="2990088" cy="713232"/>
          </a:xfrm>
          <a:prstGeom prst="roundRect">
            <a:avLst>
              <a:gd name="adj" fmla="val 12821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882896"/>
            <a:ext cx="2770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30-120 นาที → ไม่เกิน 3 นาที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1691640"/>
            <a:ext cx="3538728" cy="40690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1965960"/>
            <a:ext cx="658368" cy="65836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13248" y="1975104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สลับเร็ว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413248" y="2340864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SWITCH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72584" y="288036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"ลิงก์กลาง" จุดเดียวใน LINE ทุกจุด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มีโดเมนสำรองพร้อมใช้ 3 ชื่อเสมอ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ไอทีแก้ค่าที่เดียว ลิงก์กลับมาทันที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36008" y="4828032"/>
            <a:ext cx="2990088" cy="713232"/>
          </a:xfrm>
          <a:prstGeom prst="roundRect">
            <a:avLst>
              <a:gd name="adj" fmla="val 12821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4882896"/>
            <a:ext cx="2770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30-60 นาที → ต่ำกว่า 1 นาที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4736" y="1691640"/>
            <a:ext cx="3538728" cy="40690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49056" y="1965960"/>
            <a:ext cx="658368" cy="658368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22" name="Text 20"/>
          <p:cNvSpPr/>
          <p:nvPr/>
        </p:nvSpPr>
        <p:spPr>
          <a:xfrm>
            <a:off x="8449056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26296" y="1975104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สื่อสารครบ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226296" y="2340864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35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COMMUNICATE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85632" y="2880360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เช็กลิสต์ 5 จุดของ LINE OA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ข้อความสำเร็จรูปให้พนักงาน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แบบฟอร์มบันทึกรายการฝาก/ถอนค้าง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49056" y="4828032"/>
            <a:ext cx="2990088" cy="713232"/>
          </a:xfrm>
          <a:prstGeom prst="roundRect">
            <a:avLst>
              <a:gd name="adj" fmla="val 12821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58784" y="4882896"/>
            <a:ext cx="2770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ไม่มีจุดตกหล่น ไม่ต้องคิดเองตอนกดดัน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 กระบวนการใหม่ เมื่อเกิดเหตุ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นับจากนาทีที่เกิดเหตุ (T+0) จนปิดเคส — เป้าหมายไม่เกิน 15 นาทีสำหรับเหตุระดับ P1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0240"/>
            <a:ext cx="210312" cy="210312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737360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T+0 – T+2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87168" y="1737360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03320" y="1737360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ตรวจพบ → ยืนยันซ้ำ 2 ครั้งจาก 2 จุดตรวจ → แจ้งเข้ากลุ่ม War Room พร้อมโทรและ SMS หา IT เวร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86584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569464"/>
            <a:ext cx="210312" cy="210312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386584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T+3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2386584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A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เวร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03320" y="2386584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Acknowledge รับเรื่อง หากไม่รับใน 5 นาที ระบบ Escalate ไปหาหัวหน้าไอทีอัตโนมัติ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218688"/>
            <a:ext cx="210312" cy="210312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035808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T+3 – T+5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3035808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9A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เวร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03320" y="3035808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วินิจฉัยด้วย Decision Tree: ถูกบล็อก / เซิร์ฟเวอร์ล่ม / แอปพลิเคชันพัง — ห้ามเปลี่ยนโดเมนก่อนวินิจฉัย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867912"/>
            <a:ext cx="210312" cy="210312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3685032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T+5 – T+10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87168" y="3685032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เวร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03320" y="368503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แก้ตามประเภทเหตุ — กรณีถูกบล็อก สลับลิงก์กลางไปโดเมนสำรองถัดไปใน Pool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517136"/>
            <a:ext cx="210312" cy="210312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" y="4334256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T+10 – T+11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87168" y="4334256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 + 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03320" y="4334256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บอทตรวจยืนยันจากทุกจุดตรวจ แล้วประกาศ "ใช้งานได้แล้ว" พร้อมลิงก์ที่ถูกต้อง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166360"/>
            <a:ext cx="210312" cy="210312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" y="4983480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T+11 – T+25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87168" y="4983480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5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703320" y="4983480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 LINE OA ครบ 5 จุด → Broadcast แจ้งลูกค้า → เคลียร์รายการฝาก/ถอนค้าง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632704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815584"/>
            <a:ext cx="210312" cy="210312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6" name="Text 34"/>
          <p:cNvSpPr/>
          <p:nvPr/>
        </p:nvSpPr>
        <p:spPr>
          <a:xfrm>
            <a:off x="1024128" y="5632704"/>
            <a:ext cx="1417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T+30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87168" y="5632704"/>
            <a:ext cx="1143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5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+ หัวหน้า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703320" y="5632704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ปิดเคสและบันทึก Incident Log — ทบทวนเหตุการณ์ภายใน 3 วันทำการ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(CS / Operator) ต้องทำอะไร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สามช่วงเวลา — เตรียมพร้อม ระหว่างเกิดเหตุ และหลังกู้คืน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38728" cy="685800"/>
          </a:xfrm>
          <a:prstGeom prst="roundRect">
            <a:avLst>
              <a:gd name="adj" fmla="val 13333"/>
            </a:avLst>
          </a:prstGeom>
          <a:solidFill>
            <a:srgbClr val="1D355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538728" cy="1828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55648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ก่อนเกิดเหตุ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เตรียมพร้อม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542032"/>
            <a:ext cx="30266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อยู่ในกลุ่ม War Room เปิดแจ้งเตือนตลอด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รู้ที่เก็บข้อความสำเร็จรูปและเช็กลิสต์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ห้ามพิมพ์ลิงก์โดเมนจริงให้ลูกค้าเอง — ส่งลิงก์กลางเท่านั้น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เข้าซ้อมแผนเดือนละ 1 ครั้ง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69164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691640"/>
            <a:ext cx="3538728" cy="685800"/>
          </a:xfrm>
          <a:prstGeom prst="roundRect">
            <a:avLst>
              <a:gd name="adj" fmla="val 13333"/>
            </a:avLst>
          </a:prstGeom>
          <a:solidFill>
            <a:srgbClr val="D6453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1688" y="2194560"/>
            <a:ext cx="3538728" cy="182880"/>
          </a:xfrm>
          <a:prstGeom prst="rect">
            <a:avLst/>
          </a:prstGeom>
          <a:solidFill>
            <a:srgbClr val="D64530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1755648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ระหว่างเกิดเหตุ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6008" y="20299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ควบคุมความเสียหาย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542032"/>
            <a:ext cx="30266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หยุดส่งลิงก์เดิม และหยุดยืนยันการโอนรายการใหม่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ตอบลูกค้าด้วยข้อความมาตรฐานเท่านั้น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จดรายการฝาก/ถอนค้างลงแบบฟอร์ม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รายงานจำนวนลูกค้าที่ติดต่อเข้ามาทุก 15 นาที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4736" y="169164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1691640"/>
            <a:ext cx="3538728" cy="685800"/>
          </a:xfrm>
          <a:prstGeom prst="roundRect">
            <a:avLst>
              <a:gd name="adj" fmla="val 13333"/>
            </a:avLst>
          </a:prstGeom>
          <a:solidFill>
            <a:srgbClr val="1F8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8174736" y="2194560"/>
            <a:ext cx="3538728" cy="18288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9" name="Text 17"/>
          <p:cNvSpPr/>
          <p:nvPr/>
        </p:nvSpPr>
        <p:spPr>
          <a:xfrm>
            <a:off x="8449056" y="1755648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หลังกู้คืน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49056" y="20299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ปิดงานให้ครบ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30768" y="2542032"/>
            <a:ext cx="30266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 LINE OA ครบ 5 จุด แล้วเซ็นกำกับ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Broadcast แจ้งลูกค้าพร้อมลิงก์ที่ถูกต้อง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เคลียร์รายการค้างและยืนยันรายคน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สรุปจำนวนลูกค้าที่กระทบส่งหัวหน้างาน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8289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เช็กลิสต์ 5 จุดที่ต้องอัปเดตใน LINE OA (ต้องครบทุกจุด มิฉะนั้นลูกค้าบางกลุ่มยังได้ลิงก์เก่า)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5321808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D2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5449824"/>
            <a:ext cx="310896" cy="310896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3218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Rich Menu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53512" y="5321808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D2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81528" y="5449824"/>
            <a:ext cx="310896" cy="310896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0" name="Text 28"/>
          <p:cNvSpPr/>
          <p:nvPr/>
        </p:nvSpPr>
        <p:spPr>
          <a:xfrm>
            <a:off x="3081528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56432" y="53218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ข้อความต้อนรับ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84064" y="5321808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D2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5449824"/>
            <a:ext cx="310896" cy="310896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86984" y="53218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ตอบกลับอัตโนมัติ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14616" y="5321808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D2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42632" y="5449824"/>
            <a:ext cx="310896" cy="310896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8" name="Text 36"/>
          <p:cNvSpPr/>
          <p:nvPr/>
        </p:nvSpPr>
        <p:spPr>
          <a:xfrm>
            <a:off x="7342632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17536" y="53218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ข้อความปักหมุด/โพสต์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45168" y="5321808"/>
            <a:ext cx="1993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3D2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73184" y="5449824"/>
            <a:ext cx="310896" cy="310896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42" name="Text 40"/>
          <p:cNvSpPr/>
          <p:nvPr/>
        </p:nvSpPr>
        <p:spPr>
          <a:xfrm>
            <a:off x="9473184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848088" y="53218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Template ตอบแชท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ฝ่ายไอทีต้องทำอะไร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งานก่อนเกิดเหตุคือส่วนที่ทำให้เวลาแก้ไขลดลงจริง — ถ้าไม่ทำล่วงหน้า ต่อให้แจ้งเตือนเร็วก็ยังแก้ช้า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532120" cy="640080"/>
          </a:xfrm>
          <a:prstGeom prst="roundRect">
            <a:avLst>
              <a:gd name="adj" fmla="val 14286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532120" cy="182880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ก่อนเกิดเหตุ — งานโครงสร้าง (สำคัญที่สุด)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182880" cy="18288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5420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Domain Pool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0" y="25420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มีโดเมนสำรองพร้อมใช้ไม่ต่ำกว่า 3 ชื่อ ตั้ง DNS ครบ ออก SSL ล่วงหน้า ทดสอบเปิดได้จริง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163824"/>
            <a:ext cx="182880" cy="18288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081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DNS TTL = 60 วินาที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3081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เพื่อให้การสลับโดเมนมีผลเร็วที่สุด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182880" cy="18288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362102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Link Redirector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0" y="3621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สร้างลิงก์กลาง พร้อมสำรองตัว Redirector เองอย่างน้อย 2 ชื่อ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242816"/>
            <a:ext cx="182880" cy="18288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4160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บอทมอนิเตอร์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4160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ติดตั้งบอทและจุดตรวจในไทยหลายผู้ให้บริการ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782312"/>
            <a:ext cx="182880" cy="18288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47000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Runbook + เวร on-call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26080" y="470001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เขียนขั้นตอนเป็นลายลักษณ์อักษร และมีตารางเวรพร้อมเบอร์สำรอง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5321808"/>
            <a:ext cx="182880" cy="18288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4" name="Text 22"/>
          <p:cNvSpPr/>
          <p:nvPr/>
        </p:nvSpPr>
        <p:spPr>
          <a:xfrm>
            <a:off x="1115568" y="5239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Backup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926080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สำรองข้อมูลและทดสอบกู้คืนอย่างน้อยเดือนละครั้ง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6916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69164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D64530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2148840"/>
            <a:ext cx="5303520" cy="182880"/>
          </a:xfrm>
          <a:prstGeom prst="rect">
            <a:avLst/>
          </a:prstGeom>
          <a:solidFill>
            <a:srgbClr val="D64530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1691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ระหว่างเกิดเหตุ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65392" y="2514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Acknowledge ภายใน 5 นาที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วินิจฉัยก่อนเสมอ — ห้ามเปลี่ยนโดเมนก่อนรู้สาเหตุ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แก้ตามประเภทเหตุ แล้วรายงานสถานะทุก 10 นาที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ยืนยันด้วยบอททุกจุดตรวจก่อนประกาศว่าใช้ได้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9360" y="38404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84048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1F8A5B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4297680"/>
            <a:ext cx="5303520" cy="18288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หลังกู้คืน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65392" y="46634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เขียนรายงานวิเคราะห์สาเหตุภายใน 3 วันทำการ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เติมโดเมนสำรองกลับให้ครบ 3 ชื่อภายใน 24 ชั่วโมง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 Runbook และปรับเกณฑ์แจ้งเตือนของบอท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บอทเช็กหน้าโดเมนอย่างไร — 8 ชั้นการตรวจ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ตรวจตั้งแต่ระดับ DNS จนถึงการจำลองผู้ใช้จริงล็อกอินและเปิดหน้าฝาก/ถอน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911096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D64530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911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8470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DNS ผ่าน DNS ของ ISP ไทย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25880" y="2139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จับการบล็อกระดับ DNS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นาที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18504" y="1911096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D64530"/>
          </a:solidFill>
          <a:ln/>
        </p:spPr>
      </p:sp>
      <p:sp>
        <p:nvSpPr>
          <p:cNvPr id="12" name="Text 10"/>
          <p:cNvSpPr/>
          <p:nvPr/>
        </p:nvSpPr>
        <p:spPr>
          <a:xfrm>
            <a:off x="6318504" y="1911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18470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TCP / TLS Connect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9440" y="2139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จับการบล็อกระดับ 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173736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นาที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33472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2807208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D64530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28072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7432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Status + เวลาตอบสนอง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2588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จับเว็บล่มและเว็บช้า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633472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นาที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2633472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18504" y="2807208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D99A16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28072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27432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ตรวจคำสำคัญในหน้าเว็บ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4944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จับหน้าเพี้ยน / ถูก Redirect ไปหน้าเตือน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2633472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9A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นาที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529584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" y="3703320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D99A16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37033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36393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Synthetic Journey ล็อกอิน + เปิดหน้าฝาก/ถอน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25880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จับระบบหลังบ้านและฐานข้อมูลพัง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529584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9A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นาที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529584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18504" y="3703320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F8A5B"/>
          </a:solidFill>
          <a:ln/>
        </p:spPr>
      </p:sp>
      <p:sp>
        <p:nvSpPr>
          <p:cNvPr id="36" name="Text 34"/>
          <p:cNvSpPr/>
          <p:nvPr/>
        </p:nvSpPr>
        <p:spPr>
          <a:xfrm>
            <a:off x="6318504" y="37033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36393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วันหมดอายุ SSL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949440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เตือนล่วงหน้า 30 / 14 / 7 วัน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3529584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วันละครั้ง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425696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" y="4599432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F8A5B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" y="45994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25880" y="45354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วันหมดอายุโดเมนและสถานะ WHOIS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325880" y="4828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กันโดเมนหมดอายุหรือถูกระงับ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4425696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วันละครั้ง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72200" y="4425696"/>
            <a:ext cx="5440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18504" y="4599432"/>
            <a:ext cx="502920" cy="438912"/>
          </a:xfrm>
          <a:prstGeom prst="roundRect">
            <a:avLst>
              <a:gd name="adj" fmla="val 12500"/>
            </a:avLst>
          </a:prstGeom>
          <a:solidFill>
            <a:srgbClr val="1D3557"/>
          </a:solidFill>
          <a:ln/>
        </p:spPr>
      </p:sp>
      <p:sp>
        <p:nvSpPr>
          <p:cNvPr id="48" name="Text 46"/>
          <p:cNvSpPr/>
          <p:nvPr/>
        </p:nvSpPr>
        <p:spPr>
          <a:xfrm>
            <a:off x="6318504" y="45994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49440" y="45354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สถานะลิงก์ในแอป LINE และ Safe Browsing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949440" y="4828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จับกรณีลิงก์ถูกแบนในแพลตฟอร์ม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0" y="4425696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D35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ชั่วโมงละครั้ง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41324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413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กฎกันแจ้งเตือนหลอน: ต้อง Fail 2 ครั้งติด จากอย่างน้อย 2 จุดตรวจ จึงจะยิงแจ้งเตือน — เป้าหมายอัตราแจ้งเตือนผิดพลาดต่ำกว่า 5%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จุดที่พลาดกันบ่อยที่สุด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76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ถ้าติดตั้งบอทไว้ที่ต่างประเทศเพียงจุดเดียว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บอทจะรายงานว่า "ปกติ" ตลอดเวลา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ทั้งที่ลูกค้าไทยเข้าไม่ได้เลย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6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เพราะการบล็อกส่วนใหญ่เกิดที่ระดับผู้ให้บริการอินเทอร์เน็ตในประเทศ ไม่ใช่ที่ตัวเซิร์ฟเวอร์ การลงทุนกับจุดตรวจในไทยจึงเป็นสิ่งจำเป็น ไม่ใช่ทางเลือก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4718304"/>
            <a:ext cx="201168" cy="201168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6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 1-3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4572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VPS ในประเทศไทย ผูกกับ DNS ต่างค่าย (AIS / True / 3BB / 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5358384"/>
            <a:ext cx="201168" cy="201168"/>
          </a:xfrm>
          <a:prstGeom prst="ellipse">
            <a:avLst/>
          </a:prstGeom>
          <a:solidFill>
            <a:srgbClr val="7FB2E5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212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2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5212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เซิร์ฟเวอร์ต่างประเทศ ใช้เป็นตัวเทียบ เพื่อแยกว่าล่มจริงหรือถูกบล็อกเฉพาะในไทย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5998464"/>
            <a:ext cx="201168" cy="201168"/>
          </a:xfrm>
          <a:prstGeom prst="ellipse">
            <a:avLst/>
          </a:prstGeom>
          <a:solidFill>
            <a:srgbClr val="8FD6B4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5852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6B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จุดเสริม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5852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มือถือที่ใช้เน็ตมือถือจริง ตรวจแบบสุ่มวันละ 2-3 ครั้ง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1417320"/>
            <a:ext cx="3840480" cy="4434840"/>
          </a:xfrm>
          <a:prstGeom prst="roundRect">
            <a:avLst>
              <a:gd name="adj" fmla="val 2381"/>
            </a:avLst>
          </a:prstGeom>
          <a:solidFill>
            <a:srgbClr val="1A2E4E"/>
          </a:solidFill>
          <a:ln w="12700">
            <a:solidFill>
              <a:srgbClr val="2E48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ระดับความรุนแรงและการแจ้งเตือน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28432" y="2157984"/>
            <a:ext cx="64008" cy="713232"/>
          </a:xfrm>
          <a:prstGeom prst="rect">
            <a:avLst/>
          </a:prstGeom>
          <a:solidFill>
            <a:srgbClr val="D64530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21031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 วิกฤต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1312" y="2340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เข้าไม่ได้ทุก ISP ในไทย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11312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2C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Telegram + LINE + โทร + SMS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11312" y="2761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รับใน 5 นาที / แก้ใน 15 นาที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28432" y="3090672"/>
            <a:ext cx="64008" cy="7132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8211312" y="30358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P2 สูง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11312" y="3273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ถูกบล็อกบาง ISP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1312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2C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Telegram + 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11312" y="3694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รับใน 15 นาที / แก้ใน 60 นาที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28432" y="4023360"/>
            <a:ext cx="64008" cy="713232"/>
          </a:xfrm>
          <a:prstGeom prst="rect">
            <a:avLst/>
          </a:prstGeom>
          <a:solidFill>
            <a:srgbClr val="7FB2E5"/>
          </a:solidFill>
          <a:ln/>
        </p:spPr>
      </p:sp>
      <p:sp>
        <p:nvSpPr>
          <p:cNvPr id="28" name="Text 26"/>
          <p:cNvSpPr/>
          <p:nvPr/>
        </p:nvSpPr>
        <p:spPr>
          <a:xfrm>
            <a:off x="8211312" y="39684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2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P3 กลาง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11312" y="4206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ช้าผิดปกติ / SSL ใกล้หมด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11312" y="44256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2C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Telegram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11312" y="46268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รับใน 4 ชั่วโมง / แก้ใน 3 วัน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28432" y="4956048"/>
            <a:ext cx="64008" cy="713232"/>
          </a:xfrm>
          <a:prstGeom prst="rect">
            <a:avLst/>
          </a:prstGeom>
          <a:solidFill>
            <a:srgbClr val="8FD6B4"/>
          </a:solidFill>
          <a:ln/>
        </p:spPr>
      </p:sp>
      <p:sp>
        <p:nvSpPr>
          <p:cNvPr id="33" name="Text 31"/>
          <p:cNvSpPr/>
          <p:nvPr/>
        </p:nvSpPr>
        <p:spPr>
          <a:xfrm>
            <a:off x="8211312" y="4901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6B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P4 ต่ำ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11312" y="5138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6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เตือนเชิงป้องกันล่วงหน้า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11312" y="53583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2C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สรุปรายวัน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11312" y="5559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รับใน 1 วันทำการ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ตัวชี้วัดที่จะใช้วัดผล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ตัวเลขปัจจุบันเป็นค่าประมาณ เพราะยังไม่เคยมีการวัด — หลังติดตั้งระบบจะวัดได้จริงทุกเดือน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46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69480" y="17373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ตัวชี้วัดอื่นที่จะรายงานผู้บริหารรายเดือน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269480" y="2194560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2249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ความพร้อมใช้งานที่ลูกค้าเข้าถึงได้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52360" y="2523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ไม่มีข้อมูล   →   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1540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ไม่ต่ำกว่า 99.5% ต่อเดือน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69480" y="2953512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52360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โดเมนสำรองพร้อมใช้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52360" y="3282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 ชื่อ   →   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915400" y="3282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ไม่ต่ำกว่า 3 ชื่อตลอดเวลา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69480" y="3712464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อัตราแจ้งเตือนผิดพลาด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5236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ไม่มีข้อมูล   →   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91540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ต่ำกว่า 5%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69480" y="4471416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รายการฝาก/ถอนค้างที่เคลียร์ใน 24 ชม.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5236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ไม่มีข้อมูล   →   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915400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69480" y="5230368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5285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การซ้อมแผน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52360" y="5559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 ครั้ง   →   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915400" y="5559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เดือนละ 1 ครั้ง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แผนดำเนินงาน 90 วัน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แบ่งเป็น 4 ระยะ โดยระยะแรกใช้เวลาเพียง 1 สัปดาห์และเห็นผลทันที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24328" cy="41605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624328" cy="868680"/>
          </a:xfrm>
          <a:prstGeom prst="roundRect">
            <a:avLst>
              <a:gd name="adj" fmla="val 10526"/>
            </a:avLst>
          </a:prstGeom>
          <a:solidFill>
            <a:srgbClr val="D6453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2624328" cy="228600"/>
          </a:xfrm>
          <a:prstGeom prst="rect">
            <a:avLst/>
          </a:prstGeom>
          <a:solidFill>
            <a:srgbClr val="D6453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92224"/>
            <a:ext cx="2221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1  •  Quick Win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761488"/>
            <a:ext cx="22585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ตั้งกลุ่ม War Room + ตารางเวร on-call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ติดตั้งบอทพื้นฐาน L1-L3 (ไทย 1 + นอก 1)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จดโดเมนสำรอง 3 ชื่อ พร้อม DNS และ SSL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ทำการ์ดข้อความสำเร็จรูป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846320"/>
            <a:ext cx="2258568" cy="868680"/>
          </a:xfrm>
          <a:prstGeom prst="roundRect">
            <a:avLst>
              <a:gd name="adj" fmla="val 10526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901184"/>
            <a:ext cx="2039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ลดเวลาจนตรวจพบจากหลักชั่วโมงเหลือหลักนาที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2424" y="1737360"/>
            <a:ext cx="2624328" cy="41605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737360"/>
            <a:ext cx="2624328" cy="868680"/>
          </a:xfrm>
          <a:prstGeom prst="roundRect">
            <a:avLst>
              <a:gd name="adj" fmla="val 10526"/>
            </a:avLst>
          </a:prstGeom>
          <a:solidFill>
            <a:srgbClr val="B8801C"/>
          </a:solidFill>
          <a:ln/>
        </p:spPr>
      </p:sp>
      <p:sp>
        <p:nvSpPr>
          <p:cNvPr id="14" name="Shape 12"/>
          <p:cNvSpPr/>
          <p:nvPr/>
        </p:nvSpPr>
        <p:spPr>
          <a:xfrm>
            <a:off x="3392424" y="2377440"/>
            <a:ext cx="2624328" cy="228600"/>
          </a:xfrm>
          <a:prstGeom prst="rect">
            <a:avLst/>
          </a:prstGeom>
          <a:solidFill>
            <a:srgbClr val="B8801C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792224"/>
            <a:ext cx="2221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3592" y="210312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2-4  •  วางโครงสร้าง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75304" y="2761488"/>
            <a:ext cx="22585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Link Redirector และย้าย LINE ทุกจุด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เพิ่มจุดตรวจในไทยให้ครบ 3 ผู้ให้บริการ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Runbook + เช็กลิสต์ + แบบฟอร์ม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อบรมพนักงานและไอทีทั้งหมด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75304" y="4846320"/>
            <a:ext cx="2258568" cy="868680"/>
          </a:xfrm>
          <a:prstGeom prst="roundRect">
            <a:avLst>
              <a:gd name="adj" fmla="val 10526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4901184"/>
            <a:ext cx="2039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01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เวลาแก้ไขลดจาก 60 นาที เหลือต่ำกว่า 15 นาที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1737360"/>
            <a:ext cx="2624328" cy="41605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737360"/>
            <a:ext cx="2624328" cy="868680"/>
          </a:xfrm>
          <a:prstGeom prst="roundRect">
            <a:avLst>
              <a:gd name="adj" fmla="val 10526"/>
            </a:avLst>
          </a:prstGeom>
          <a:solidFill>
            <a:srgbClr val="2C7BB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6208" y="2377440"/>
            <a:ext cx="2624328" cy="228600"/>
          </a:xfrm>
          <a:prstGeom prst="rect">
            <a:avLst/>
          </a:prstGeom>
          <a:solidFill>
            <a:srgbClr val="2C7BB6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1792224"/>
            <a:ext cx="2221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7376" y="210312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5-8  •  ยกระดับอัตโนมัติ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19088" y="2761488"/>
            <a:ext cx="22585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Synthetic Journey และการตรวจ L6-L8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Status Dashboard และ Incident Log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Auto-Failover สลับลิงก์เองแบบมีเงื่อนไข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ตั้งระบบ Escalation อัตโนมัติ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19088" y="4846320"/>
            <a:ext cx="2258568" cy="868680"/>
          </a:xfrm>
          <a:prstGeom prst="roundRect">
            <a:avLst>
              <a:gd name="adj" fmla="val 10526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4901184"/>
            <a:ext cx="2039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เหตุที่สลับอัตโนมัติได้ แก้เสร็จต่ำกว่า 5 นาที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79992" y="1737360"/>
            <a:ext cx="2624328" cy="41605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3D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79992" y="1737360"/>
            <a:ext cx="2624328" cy="868680"/>
          </a:xfrm>
          <a:prstGeom prst="roundRect">
            <a:avLst>
              <a:gd name="adj" fmla="val 10526"/>
            </a:avLst>
          </a:prstGeom>
          <a:solidFill>
            <a:srgbClr val="1F8A5B"/>
          </a:solidFill>
          <a:ln/>
        </p:spPr>
      </p:sp>
      <p:sp>
        <p:nvSpPr>
          <p:cNvPr id="30" name="Shape 28"/>
          <p:cNvSpPr/>
          <p:nvPr/>
        </p:nvSpPr>
        <p:spPr>
          <a:xfrm>
            <a:off x="9079992" y="2377440"/>
            <a:ext cx="2624328" cy="2286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1792224"/>
            <a:ext cx="2221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81160" y="210312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สัปดาห์ที่ 9-12  •  ทำให้ยั่งยืน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262872" y="2761488"/>
            <a:ext cx="22585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ซ้อมแผนเสมือนจริงและวัดผล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ตั้งกระบวนการทบทวนเหตุการณ์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 KPI และเกณฑ์แจ้งเตือน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จัดทำแผนความต่อเนื่องธุรกิจฉบับย่อ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262872" y="4846320"/>
            <a:ext cx="2258568" cy="868680"/>
          </a:xfrm>
          <a:prstGeom prst="roundRect">
            <a:avLst>
              <a:gd name="adj" fmla="val 10526"/>
            </a:avLst>
          </a:prstGeom>
          <a:solidFill>
            <a:srgbClr val="EEF3FB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72600" y="4901184"/>
            <a:ext cx="20391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กระบวนการวัดผลได้ และไม่ผูกกับตัวบุคคล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งบประมาณโดยประมาณ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เป็นตัวเลขประมาณการเพื่อประกอบการตัดสินใจ ต้องขอใบเสนอราคาจริงก่อนอนุมัติ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รายการค่าใช้จ่าย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7665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VPS จุดตรวจในประเทศไทย 3 จุด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26280" y="2103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1,500 - 4,500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0" y="210312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ต่อเดือน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6766560" cy="475488"/>
          </a:xfrm>
          <a:prstGeom prst="roundRect">
            <a:avLst>
              <a:gd name="adj" fmla="val 19231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517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VPS จุดตรวจต่างประเทศ 1 จุด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300 - 800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ต่อเดือน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67665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เซิร์ฟเวอร์ Redirector และตัวสำรอง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32004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1,000 - 3,000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320040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ต่อเดือน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6766560" cy="475488"/>
          </a:xfrm>
          <a:prstGeom prst="roundRect">
            <a:avLst>
              <a:gd name="adj" fmla="val 19231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490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CDN / WAF (Cloudflare)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6280" y="3749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0 - 800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6480" y="37490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ต่อเดือน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67665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976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บริการโทรและ SMS แจ้งเตือน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26280" y="42976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300 - 1,000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26480" y="42976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ต่อเดือน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6766560" cy="475488"/>
          </a:xfrm>
          <a:prstGeom prst="roundRect">
            <a:avLst>
              <a:gd name="adj" fmla="val 19231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463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โดเมนสำรอง 10 ชื่อ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26280" y="48463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3,000 - 8,000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26480" y="484632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ต่อปี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67665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3949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ซอฟต์แวร์มอนิเตอร์ (n8n + Uptime Kuma)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26280" y="5394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ไม่มีค่าใช้จ่าย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26480" y="53949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ใช้ของเดิม / โอเพนซอร์ส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16916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1828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รวมค่าใช้จ่ายประจำ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63840" y="21488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3,100 - 10,100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863840" y="2724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บาท ต่อเดือน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0" y="3364992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D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ค่าติดตั้งและพัฒนาครั้งแรก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863840" y="3767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20,000 - 60,000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863840" y="4261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บาท ครั้งเดียว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589520" y="4809744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AF5EE"/>
          </a:solidFill>
          <a:ln w="12700">
            <a:solidFill>
              <a:srgbClr val="BFE0C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4919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เทียบกับความเสียหาย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0" y="519379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หากเว็บล่ม 1 ชั่วโมงในช่วงพีค ความสูญเสียมักสูงกว่าค่าใช้จ่ายทั้งเดือนของระบบนี้ — ขอให้ฝ่ายบัญชีใส่ตัวเลขรายได้เฉลี่ยต่อชั่วโมงเพื่อคำนวณ ROI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ความเสี่ยงและการควบคุม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ความเสี่ยงที่ต้องยอมรับและวิธีคุมไม่ให้กลายเป็นปัญหา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20240"/>
            <a:ext cx="210312" cy="210312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737360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ลิงก์กลางเองถูกบล็อก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70832" y="1737360"/>
            <a:ext cx="320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737360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เตรียมลิงก์กลางสำรองอย่างน้อย 2 ชื่อ และสอนพนักงานให้เปลี่ยนได้เอง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578608"/>
            <a:ext cx="210312" cy="210312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239572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บอทแจ้งเตือนหลอนบ่อย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70832" y="2395728"/>
            <a:ext cx="320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395728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ใช้กฎยืนยัน 2 ครั้งจาก 2 จุดตรวจ และวัดอัตราแจ้งเตือนผิดพลาดทุกเดือน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236976"/>
            <a:ext cx="210312" cy="210312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3054096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เวรไม่รับสาย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70832" y="3054096"/>
            <a:ext cx="320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3054096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Escalate อัตโนมัติ มีเวรสำรอง และวัดเวลารับเรื่องเป็น KPI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12464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895344"/>
            <a:ext cx="210312" cy="210312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3712464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ผูกกับบุคคลเพียงคนเดียว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70832" y="3712464"/>
            <a:ext cx="320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712464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Runbook เป็นลายลักษณ์อักษร และอบรมอย่างน้อย 2 คนต่อบทบาท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553712"/>
            <a:ext cx="210312" cy="210312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4370832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ลูกค้าโอนเงินระหว่างระบบล่ม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70832" y="4370832"/>
            <a:ext cx="320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370832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ห้ามรับโอนรายการใหม่ระหว่างเกิดเหตุ และใช้แบบฟอร์มบันทึกรายการค้าง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7FAFD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5212080"/>
            <a:ext cx="210312" cy="210312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" y="5029200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มิจฉาชีพปลอมลิงก์ช่วงที่วุ่นวาย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70832" y="5029200"/>
            <a:ext cx="320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5029200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ประกาศลิงก์จากช่องทางทางการเท่านั้น และสอนลูกค้าให้ตรวจสอบก่อนกด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687568"/>
            <a:ext cx="1106424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5870448"/>
            <a:ext cx="210312" cy="210312"/>
          </a:xfrm>
          <a:prstGeom prst="ellipse">
            <a:avLst/>
          </a:prstGeom>
          <a:solidFill>
            <a:srgbClr val="D64530"/>
          </a:solidFill>
          <a:ln/>
        </p:spPr>
      </p:sp>
      <p:sp>
        <p:nvSpPr>
          <p:cNvPr id="36" name="Text 34"/>
          <p:cNvSpPr/>
          <p:nvPr/>
        </p:nvSpPr>
        <p:spPr>
          <a:xfrm>
            <a:off x="1078992" y="568756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ไม่ได้แก้ที่ต้นเหตุของการบล็อก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70832" y="5687568"/>
            <a:ext cx="320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9160" y="5687568"/>
            <a:ext cx="6766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B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ตรวจสอบสาเหตุทุกครั้ง หากถูกแจ้งผิดพลาดให้ยื่นอุทธรณ์กับผู้ให้บริการหรือหน่วยงานที่เกี่ยวข้อง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5852160" cy="585216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สิ่งที่ขออนุมัติจากผู้บริหาร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เรื่อง — เริ่ม Phase 0 ได้ทันทีที่อนุมัติข้อ 1 และข้อ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2E4E"/>
          </a:solidFill>
          <a:ln w="12700">
            <a:solidFill>
              <a:srgbClr val="2E48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56816"/>
            <a:ext cx="429768" cy="429768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5681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อนุมัติกรอบวงเงินงบประมาณ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85416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ค่าใช้จ่ายประจำ 3,100 - 10,100 บาทต่อเดือน และค่าติดตั้งครั้งแรก 20,000 - 60,000 บาท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2E4E"/>
          </a:solidFill>
          <a:ln w="12700">
            <a:solidFill>
              <a:srgbClr val="2E48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25496"/>
            <a:ext cx="429768" cy="429768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254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อนุมัติตำแหน่ง IT เวร on-call พร้อมค่าตอบแทนนอกเวลา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054096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เหตุส่วนใหญ่เกิดนอกเวลางาน ถ้าไม่มีเวรอย่างเป็นทางการ ระบบแจ้งเตือนจะไม่มีความหมาย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2E4E"/>
          </a:solidFill>
          <a:ln w="12700">
            <a:solidFill>
              <a:srgbClr val="2E48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94176"/>
            <a:ext cx="429768" cy="429768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941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อนุมัตินโยบาย "ลิงก์กลางเท่านั้น"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922776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ห้ามทุกฝ่ายส่งลิงก์โดเมนจริงให้ลูกค้าโดยตรง เพราะเป็นเงื่อนไขที่ทำให้สลับลิงก์ได้ในนาทีเดียว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2E4E"/>
          </a:solidFill>
          <a:ln w="12700">
            <a:solidFill>
              <a:srgbClr val="2E48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62856"/>
            <a:ext cx="429768" cy="429768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628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480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อนุมัติให้เหตุระดับ P1 สั่งการข้ามสายงานได้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791456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ผู้รับเรื่องต้องสั่งพนักงานหยุดรับฝาก/ถอนได้ทันทีโดยไม่ต้องรออนุมัติ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2E4E"/>
          </a:solidFill>
          <a:ln w="12700">
            <a:solidFill>
              <a:srgbClr val="2E48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431536"/>
            <a:ext cx="429768" cy="429768"/>
          </a:xfrm>
          <a:prstGeom prst="ellipse">
            <a:avLst/>
          </a:prstGeom>
          <a:solidFill>
            <a:srgbClr val="F0A86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315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กำหนดให้ซ้อมแผนเดือนละ 1 ครั้งเป็นภาระงานบังคับ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660136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แผนที่ไม่ได้ซ้อมจะใช้ไม่ได้จริงตอนเกิดเหตุ พร้อมรายงาน KPI ต่อผู้บริหารรายเดือน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เอกสารขั้นตอนปฏิบัติงานฉบับเต็ม (SOP) แนบมาพร้อมการนำเสนอนี้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2026-08-04T11:08:55Z</dcterms:created>
  <dcterms:modified xsi:type="dcterms:W3CDTF">2026-08-04T11:08:55Z</dcterms:modified>
</cp:coreProperties>
</file>